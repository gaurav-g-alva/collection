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6"/>
  </p:notesMasterIdLst>
  <p:sldIdLst>
    <p:sldId id="256" r:id="rId2"/>
    <p:sldId id="257" r:id="rId3"/>
    <p:sldId id="258" r:id="rId4"/>
    <p:sldId id="259" r:id="rId5"/>
    <p:sldId id="269" r:id="rId6"/>
    <p:sldId id="260" r:id="rId7"/>
    <p:sldId id="270" r:id="rId8"/>
    <p:sldId id="271" r:id="rId9"/>
    <p:sldId id="272" r:id="rId10"/>
    <p:sldId id="273" r:id="rId11"/>
    <p:sldId id="274" r:id="rId12"/>
    <p:sldId id="262" r:id="rId13"/>
    <p:sldId id="277" r:id="rId14"/>
    <p:sldId id="276"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5757"/>
    <a:srgbClr val="FEF9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2418" autoAdjust="0"/>
  </p:normalViewPr>
  <p:slideViewPr>
    <p:cSldViewPr snapToGrid="0">
      <p:cViewPr varScale="1">
        <p:scale>
          <a:sx n="76" d="100"/>
          <a:sy n="76" d="100"/>
        </p:scale>
        <p:origin x="946"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BD07C2-A8D5-442F-93E7-71925FF71000}" type="datetimeFigureOut">
              <a:rPr lang="en-IN" smtClean="0"/>
              <a:t>20-05-2025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2FC62F-66EE-4F31-9BCD-675275CDC678}" type="slidenum">
              <a:rPr lang="en-IN" smtClean="0"/>
              <a:t>‹#›</a:t>
            </a:fld>
            <a:endParaRPr lang="en-IN"/>
          </a:p>
        </p:txBody>
      </p:sp>
    </p:spTree>
    <p:extLst>
      <p:ext uri="{BB962C8B-B14F-4D97-AF65-F5344CB8AC3E}">
        <p14:creationId xmlns:p14="http://schemas.microsoft.com/office/powerpoint/2010/main" val="2817238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312FC62F-66EE-4F31-9BCD-675275CDC678}" type="slidenum">
              <a:rPr lang="en-IN" smtClean="0"/>
              <a:t>1</a:t>
            </a:fld>
            <a:endParaRPr lang="en-IN"/>
          </a:p>
        </p:txBody>
      </p:sp>
    </p:spTree>
    <p:extLst>
      <p:ext uri="{BB962C8B-B14F-4D97-AF65-F5344CB8AC3E}">
        <p14:creationId xmlns:p14="http://schemas.microsoft.com/office/powerpoint/2010/main" val="24128084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12FC62F-66EE-4F31-9BCD-675275CDC678}" type="slidenum">
              <a:rPr lang="en-IN" smtClean="0"/>
              <a:t>3</a:t>
            </a:fld>
            <a:endParaRPr lang="en-IN"/>
          </a:p>
        </p:txBody>
      </p:sp>
    </p:spTree>
    <p:extLst>
      <p:ext uri="{BB962C8B-B14F-4D97-AF65-F5344CB8AC3E}">
        <p14:creationId xmlns:p14="http://schemas.microsoft.com/office/powerpoint/2010/main" val="14113657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3FE507B-74E9-434B-B589-61639C269BD2}" type="datetime1">
              <a:rPr lang="en-IN" smtClean="0"/>
              <a:t>20-05-2025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9EB42E-18EF-4ADA-8D91-F15AD1AFC8DD}" type="slidenum">
              <a:rPr lang="en-IN" smtClean="0"/>
              <a:t>‹#›</a:t>
            </a:fld>
            <a:endParaRPr lang="en-IN"/>
          </a:p>
        </p:txBody>
      </p:sp>
    </p:spTree>
    <p:extLst>
      <p:ext uri="{BB962C8B-B14F-4D97-AF65-F5344CB8AC3E}">
        <p14:creationId xmlns:p14="http://schemas.microsoft.com/office/powerpoint/2010/main" val="3296917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C27CEE-AECC-488D-B081-6669003DE492}" type="datetime1">
              <a:rPr lang="en-IN" smtClean="0"/>
              <a:t>20-05-2025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9EB42E-18EF-4ADA-8D91-F15AD1AFC8DD}" type="slidenum">
              <a:rPr lang="en-IN" smtClean="0"/>
              <a:t>‹#›</a:t>
            </a:fld>
            <a:endParaRPr lang="en-IN"/>
          </a:p>
        </p:txBody>
      </p:sp>
    </p:spTree>
    <p:extLst>
      <p:ext uri="{BB962C8B-B14F-4D97-AF65-F5344CB8AC3E}">
        <p14:creationId xmlns:p14="http://schemas.microsoft.com/office/powerpoint/2010/main" val="2842419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907550-43C7-482D-BA34-265D3A59D17F}" type="datetime1">
              <a:rPr lang="en-IN" smtClean="0"/>
              <a:t>20-05-2025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9EB42E-18EF-4ADA-8D91-F15AD1AFC8DD}" type="slidenum">
              <a:rPr lang="en-IN" smtClean="0"/>
              <a:t>‹#›</a:t>
            </a:fld>
            <a:endParaRPr lang="en-IN"/>
          </a:p>
        </p:txBody>
      </p:sp>
    </p:spTree>
    <p:extLst>
      <p:ext uri="{BB962C8B-B14F-4D97-AF65-F5344CB8AC3E}">
        <p14:creationId xmlns:p14="http://schemas.microsoft.com/office/powerpoint/2010/main" val="4204701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4D77DB3-F920-470E-B309-869FDF9C0108}" type="datetime1">
              <a:rPr lang="en-IN" smtClean="0"/>
              <a:t>20-05-2025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9EB42E-18EF-4ADA-8D91-F15AD1AFC8DD}" type="slidenum">
              <a:rPr lang="en-IN" smtClean="0"/>
              <a:t>‹#›</a:t>
            </a:fld>
            <a:endParaRPr lang="en-IN"/>
          </a:p>
        </p:txBody>
      </p:sp>
    </p:spTree>
    <p:extLst>
      <p:ext uri="{BB962C8B-B14F-4D97-AF65-F5344CB8AC3E}">
        <p14:creationId xmlns:p14="http://schemas.microsoft.com/office/powerpoint/2010/main" val="34591635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45A2ED-077A-4579-A46A-43231F0F597B}" type="datetime1">
              <a:rPr lang="en-IN" smtClean="0"/>
              <a:t>20-05-2025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19EB42E-18EF-4ADA-8D91-F15AD1AFC8DD}" type="slidenum">
              <a:rPr lang="en-IN" smtClean="0"/>
              <a:t>‹#›</a:t>
            </a:fld>
            <a:endParaRPr lang="en-IN"/>
          </a:p>
        </p:txBody>
      </p:sp>
    </p:spTree>
    <p:extLst>
      <p:ext uri="{BB962C8B-B14F-4D97-AF65-F5344CB8AC3E}">
        <p14:creationId xmlns:p14="http://schemas.microsoft.com/office/powerpoint/2010/main" val="1461007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5FFD98-AA31-4581-BF2A-5A2077300591}" type="datetime1">
              <a:rPr lang="en-IN" smtClean="0"/>
              <a:t>20-05-2025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19EB42E-18EF-4ADA-8D91-F15AD1AFC8DD}" type="slidenum">
              <a:rPr lang="en-IN" smtClean="0"/>
              <a:t>‹#›</a:t>
            </a:fld>
            <a:endParaRPr lang="en-IN"/>
          </a:p>
        </p:txBody>
      </p:sp>
    </p:spTree>
    <p:extLst>
      <p:ext uri="{BB962C8B-B14F-4D97-AF65-F5344CB8AC3E}">
        <p14:creationId xmlns:p14="http://schemas.microsoft.com/office/powerpoint/2010/main" val="12162281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58E697-6A5A-41D6-A5BF-DF6DC04A6DFC}" type="datetime1">
              <a:rPr lang="en-IN" smtClean="0"/>
              <a:t>20-05-2025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19EB42E-18EF-4ADA-8D91-F15AD1AFC8DD}" type="slidenum">
              <a:rPr lang="en-IN" smtClean="0"/>
              <a:t>‹#›</a:t>
            </a:fld>
            <a:endParaRPr lang="en-IN"/>
          </a:p>
        </p:txBody>
      </p:sp>
    </p:spTree>
    <p:extLst>
      <p:ext uri="{BB962C8B-B14F-4D97-AF65-F5344CB8AC3E}">
        <p14:creationId xmlns:p14="http://schemas.microsoft.com/office/powerpoint/2010/main" val="29916767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6822B0A-2DE6-43ED-9578-1137B94F3B65}" type="datetime1">
              <a:rPr lang="en-IN" smtClean="0"/>
              <a:t>20-05-2025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9EB42E-18EF-4ADA-8D91-F15AD1AFC8DD}" type="slidenum">
              <a:rPr lang="en-IN" smtClean="0"/>
              <a:t>‹#›</a:t>
            </a:fld>
            <a:endParaRPr lang="en-IN"/>
          </a:p>
        </p:txBody>
      </p:sp>
    </p:spTree>
    <p:extLst>
      <p:ext uri="{BB962C8B-B14F-4D97-AF65-F5344CB8AC3E}">
        <p14:creationId xmlns:p14="http://schemas.microsoft.com/office/powerpoint/2010/main" val="26359801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781F493-348F-40BE-912D-787DF7E33694}" type="datetime1">
              <a:rPr lang="en-IN" smtClean="0"/>
              <a:t>20-05-2025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9EB42E-18EF-4ADA-8D91-F15AD1AFC8DD}" type="slidenum">
              <a:rPr lang="en-IN" smtClean="0"/>
              <a:t>‹#›</a:t>
            </a:fld>
            <a:endParaRPr lang="en-IN"/>
          </a:p>
        </p:txBody>
      </p:sp>
    </p:spTree>
    <p:extLst>
      <p:ext uri="{BB962C8B-B14F-4D97-AF65-F5344CB8AC3E}">
        <p14:creationId xmlns:p14="http://schemas.microsoft.com/office/powerpoint/2010/main" val="9107073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F852E4-941D-4D93-8BE7-96DFDEB218D4}" type="datetime1">
              <a:rPr lang="en-IN" smtClean="0"/>
              <a:t>20-05-2025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9EB42E-18EF-4ADA-8D91-F15AD1AFC8DD}" type="slidenum">
              <a:rPr lang="en-IN" smtClean="0"/>
              <a:t>‹#›</a:t>
            </a:fld>
            <a:endParaRPr lang="en-IN"/>
          </a:p>
        </p:txBody>
      </p:sp>
    </p:spTree>
    <p:extLst>
      <p:ext uri="{BB962C8B-B14F-4D97-AF65-F5344CB8AC3E}">
        <p14:creationId xmlns:p14="http://schemas.microsoft.com/office/powerpoint/2010/main" val="4254765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13C6D0-628E-4C8C-B674-0FC5911BFD3F}" type="datetime1">
              <a:rPr lang="en-IN" smtClean="0"/>
              <a:t>20-05-2025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9EB42E-18EF-4ADA-8D91-F15AD1AFC8DD}" type="slidenum">
              <a:rPr lang="en-IN" smtClean="0"/>
              <a:t>‹#›</a:t>
            </a:fld>
            <a:endParaRPr lang="en-IN"/>
          </a:p>
        </p:txBody>
      </p:sp>
    </p:spTree>
    <p:extLst>
      <p:ext uri="{BB962C8B-B14F-4D97-AF65-F5344CB8AC3E}">
        <p14:creationId xmlns:p14="http://schemas.microsoft.com/office/powerpoint/2010/main" val="2364339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EF9E8">
            <a:alpha val="51000"/>
          </a:srgb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96BE42-94BA-4EFF-BD05-5C4A4AD389AE}" type="datetime1">
              <a:rPr lang="en-IN" smtClean="0"/>
              <a:t>20-05-2025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9EB42E-18EF-4ADA-8D91-F15AD1AFC8DD}" type="slidenum">
              <a:rPr lang="en-IN" smtClean="0"/>
              <a:t>‹#›</a:t>
            </a:fld>
            <a:endParaRPr lang="en-IN"/>
          </a:p>
        </p:txBody>
      </p:sp>
    </p:spTree>
    <p:extLst>
      <p:ext uri="{BB962C8B-B14F-4D97-AF65-F5344CB8AC3E}">
        <p14:creationId xmlns:p14="http://schemas.microsoft.com/office/powerpoint/2010/main" val="317979484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4D8AADF-1384-5E5D-54C7-58173DFA7F41}"/>
              </a:ext>
            </a:extLst>
          </p:cNvPr>
          <p:cNvSpPr txBox="1"/>
          <p:nvPr/>
        </p:nvSpPr>
        <p:spPr>
          <a:xfrm>
            <a:off x="974663" y="4878035"/>
            <a:ext cx="3601713" cy="707886"/>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Presented by :     </a:t>
            </a:r>
            <a:r>
              <a:rPr lang="en-IN" sz="2000" b="1" dirty="0">
                <a:latin typeface="Times New Roman" panose="02020603050405020304" pitchFamily="18" charset="0"/>
                <a:cs typeface="Times New Roman" panose="02020603050405020304" pitchFamily="18" charset="0"/>
              </a:rPr>
              <a:t>Gaurav G Alva</a:t>
            </a:r>
          </a:p>
          <a:p>
            <a:r>
              <a:rPr lang="en-IN" sz="2000" b="1" dirty="0">
                <a:latin typeface="Times New Roman" panose="02020603050405020304" pitchFamily="18" charset="0"/>
                <a:cs typeface="Times New Roman" panose="02020603050405020304" pitchFamily="18" charset="0"/>
              </a:rPr>
              <a:t>				4VP22CD019</a:t>
            </a:r>
          </a:p>
        </p:txBody>
      </p:sp>
      <p:sp>
        <p:nvSpPr>
          <p:cNvPr id="5" name="TextBox 4">
            <a:extLst>
              <a:ext uri="{FF2B5EF4-FFF2-40B4-BE49-F238E27FC236}">
                <a16:creationId xmlns:a16="http://schemas.microsoft.com/office/drawing/2014/main" id="{6D0A22EF-D4A6-42F0-A270-4C7DE2FE546A}"/>
              </a:ext>
            </a:extLst>
          </p:cNvPr>
          <p:cNvSpPr txBox="1"/>
          <p:nvPr/>
        </p:nvSpPr>
        <p:spPr>
          <a:xfrm>
            <a:off x="4802517" y="4877296"/>
            <a:ext cx="2603124" cy="707886"/>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Harshit Mahesh Naik</a:t>
            </a:r>
          </a:p>
          <a:p>
            <a:r>
              <a:rPr lang="en-IN" sz="2000" b="1" dirty="0">
                <a:latin typeface="Times New Roman" panose="02020603050405020304" pitchFamily="18" charset="0"/>
                <a:cs typeface="Times New Roman" panose="02020603050405020304" pitchFamily="18" charset="0"/>
              </a:rPr>
              <a:t>4VP22CD022</a:t>
            </a:r>
          </a:p>
        </p:txBody>
      </p:sp>
      <p:sp>
        <p:nvSpPr>
          <p:cNvPr id="6" name="TextBox 5">
            <a:extLst>
              <a:ext uri="{FF2B5EF4-FFF2-40B4-BE49-F238E27FC236}">
                <a16:creationId xmlns:a16="http://schemas.microsoft.com/office/drawing/2014/main" id="{DDCCEB71-47FB-90E4-6EDE-2BDCE09D2AB2}"/>
              </a:ext>
            </a:extLst>
          </p:cNvPr>
          <p:cNvSpPr txBox="1"/>
          <p:nvPr/>
        </p:nvSpPr>
        <p:spPr>
          <a:xfrm>
            <a:off x="7622899" y="4877296"/>
            <a:ext cx="1903732" cy="707886"/>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Prapthi J P</a:t>
            </a:r>
          </a:p>
          <a:p>
            <a:r>
              <a:rPr lang="en-IN" sz="2000" b="1" dirty="0">
                <a:latin typeface="Times New Roman" panose="02020603050405020304" pitchFamily="18" charset="0"/>
                <a:cs typeface="Times New Roman" panose="02020603050405020304" pitchFamily="18" charset="0"/>
              </a:rPr>
              <a:t>4VP22CD037</a:t>
            </a:r>
          </a:p>
        </p:txBody>
      </p:sp>
      <p:sp>
        <p:nvSpPr>
          <p:cNvPr id="26" name="object 8">
            <a:extLst>
              <a:ext uri="{FF2B5EF4-FFF2-40B4-BE49-F238E27FC236}">
                <a16:creationId xmlns:a16="http://schemas.microsoft.com/office/drawing/2014/main" id="{52358E10-7AEB-C3C2-CE92-5CEBE785DBEA}"/>
              </a:ext>
            </a:extLst>
          </p:cNvPr>
          <p:cNvSpPr txBox="1"/>
          <p:nvPr/>
        </p:nvSpPr>
        <p:spPr>
          <a:xfrm>
            <a:off x="1020021" y="2809174"/>
            <a:ext cx="10142202" cy="1500411"/>
          </a:xfrm>
          <a:prstGeom prst="rect">
            <a:avLst/>
          </a:prstGeom>
        </p:spPr>
        <p:txBody>
          <a:bodyPr vert="horz" wrap="square" lIns="0" tIns="14478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065" marR="5080" algn="ctr">
              <a:spcBef>
                <a:spcPts val="1140"/>
              </a:spcBef>
            </a:pPr>
            <a:r>
              <a:rPr lang="en-US" sz="4400" b="1" dirty="0">
                <a:solidFill>
                  <a:schemeClr val="accent1">
                    <a:lumMod val="75000"/>
                  </a:schemeClr>
                </a:solidFill>
                <a:latin typeface="Times New Roman" panose="02020603050405020304" pitchFamily="18" charset="0"/>
                <a:cs typeface="Times New Roman" panose="02020603050405020304" pitchFamily="18" charset="0"/>
              </a:rPr>
              <a:t>W</a:t>
            </a:r>
            <a:r>
              <a:rPr lang="en-IN" sz="4400" b="1" dirty="0" err="1">
                <a:solidFill>
                  <a:schemeClr val="accent1">
                    <a:lumMod val="75000"/>
                  </a:schemeClr>
                </a:solidFill>
                <a:latin typeface="Times New Roman" panose="02020603050405020304" pitchFamily="18" charset="0"/>
                <a:cs typeface="Times New Roman" panose="02020603050405020304" pitchFamily="18" charset="0"/>
              </a:rPr>
              <a:t>eb</a:t>
            </a:r>
            <a:r>
              <a:rPr lang="en-IN" sz="4400" b="1" dirty="0">
                <a:solidFill>
                  <a:schemeClr val="accent1">
                    <a:lumMod val="75000"/>
                  </a:schemeClr>
                </a:solidFill>
                <a:latin typeface="Times New Roman" panose="02020603050405020304" pitchFamily="18" charset="0"/>
                <a:cs typeface="Times New Roman" panose="02020603050405020304" pitchFamily="18" charset="0"/>
              </a:rPr>
              <a:t>-Based Automatic Timetable Scheduler for Schools &amp; Colleges</a:t>
            </a:r>
            <a:endParaRPr lang="en-US" sz="4400" b="1" dirty="0">
              <a:solidFill>
                <a:schemeClr val="accent1">
                  <a:lumMod val="75000"/>
                </a:schemeClr>
              </a:solidFill>
            </a:endParaRPr>
          </a:p>
        </p:txBody>
      </p:sp>
      <p:sp>
        <p:nvSpPr>
          <p:cNvPr id="28" name="object 10">
            <a:extLst>
              <a:ext uri="{FF2B5EF4-FFF2-40B4-BE49-F238E27FC236}">
                <a16:creationId xmlns:a16="http://schemas.microsoft.com/office/drawing/2014/main" id="{2B59AC69-40B9-F452-4281-97020A55DC03}"/>
              </a:ext>
            </a:extLst>
          </p:cNvPr>
          <p:cNvSpPr txBox="1"/>
          <p:nvPr/>
        </p:nvSpPr>
        <p:spPr>
          <a:xfrm>
            <a:off x="2142539" y="2282961"/>
            <a:ext cx="7897167" cy="507831"/>
          </a:xfrm>
          <a:prstGeom prst="rect">
            <a:avLst/>
          </a:prstGeom>
        </p:spPr>
        <p:txBody>
          <a:bodyPr vert="horz" wrap="square" lIns="0" tIns="1524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gn="ctr">
              <a:lnSpc>
                <a:spcPct val="100000"/>
              </a:lnSpc>
              <a:spcBef>
                <a:spcPts val="120"/>
              </a:spcBef>
            </a:pPr>
            <a:r>
              <a:rPr lang="en-US" sz="3200" b="1" spc="-15" dirty="0">
                <a:solidFill>
                  <a:srgbClr val="2B2B2B"/>
                </a:solidFill>
                <a:latin typeface="Times New Roman" panose="02020603050405020304" pitchFamily="18" charset="0"/>
                <a:cs typeface="Times New Roman" panose="02020603050405020304" pitchFamily="18" charset="0"/>
              </a:rPr>
              <a:t>Project Phase I </a:t>
            </a:r>
            <a:r>
              <a:rPr lang="en-US" sz="3200" b="1" spc="-35" dirty="0">
                <a:solidFill>
                  <a:srgbClr val="2B2B2B"/>
                </a:solidFill>
                <a:latin typeface="Times New Roman" panose="02020603050405020304" pitchFamily="18" charset="0"/>
                <a:cs typeface="Times New Roman" panose="02020603050405020304" pitchFamily="18" charset="0"/>
              </a:rPr>
              <a:t>Presentation </a:t>
            </a:r>
            <a:r>
              <a:rPr sz="3200" b="1" spc="-85" dirty="0">
                <a:solidFill>
                  <a:srgbClr val="2B2B2B"/>
                </a:solidFill>
                <a:latin typeface="Times New Roman" panose="02020603050405020304" pitchFamily="18" charset="0"/>
                <a:cs typeface="Times New Roman" panose="02020603050405020304" pitchFamily="18" charset="0"/>
              </a:rPr>
              <a:t> </a:t>
            </a:r>
            <a:r>
              <a:rPr sz="3200" b="1" dirty="0">
                <a:solidFill>
                  <a:srgbClr val="2B2B2B"/>
                </a:solidFill>
                <a:latin typeface="Times New Roman" panose="02020603050405020304" pitchFamily="18" charset="0"/>
                <a:cs typeface="Times New Roman" panose="02020603050405020304" pitchFamily="18" charset="0"/>
              </a:rPr>
              <a:t>on</a:t>
            </a:r>
            <a:endParaRPr sz="3200" b="1" dirty="0">
              <a:latin typeface="Times New Roman" panose="02020603050405020304" pitchFamily="18" charset="0"/>
              <a:cs typeface="Times New Roman" panose="02020603050405020304" pitchFamily="18" charset="0"/>
            </a:endParaRPr>
          </a:p>
        </p:txBody>
      </p:sp>
      <p:sp>
        <p:nvSpPr>
          <p:cNvPr id="34" name="TextBox 33">
            <a:extLst>
              <a:ext uri="{FF2B5EF4-FFF2-40B4-BE49-F238E27FC236}">
                <a16:creationId xmlns:a16="http://schemas.microsoft.com/office/drawing/2014/main" id="{47787D74-FF06-E8CE-9816-A4DA4666D328}"/>
              </a:ext>
            </a:extLst>
          </p:cNvPr>
          <p:cNvSpPr txBox="1"/>
          <p:nvPr/>
        </p:nvSpPr>
        <p:spPr>
          <a:xfrm>
            <a:off x="977121" y="5853040"/>
            <a:ext cx="3599255" cy="400110"/>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Guided by : </a:t>
            </a:r>
            <a:r>
              <a:rPr lang="en-US" sz="2000" b="1" dirty="0">
                <a:latin typeface="Times New Roman" panose="02020603050405020304" pitchFamily="18" charset="0"/>
                <a:cs typeface="Times New Roman" panose="02020603050405020304" pitchFamily="18" charset="0"/>
              </a:rPr>
              <a:t>Prof. Chaithanya D</a:t>
            </a:r>
            <a:endParaRPr lang="en-IN" sz="2000" b="1" dirty="0">
              <a:latin typeface="Times New Roman" panose="02020603050405020304" pitchFamily="18" charset="0"/>
              <a:cs typeface="Times New Roman" panose="02020603050405020304" pitchFamily="18" charset="0"/>
            </a:endParaRPr>
          </a:p>
        </p:txBody>
      </p:sp>
      <p:sp>
        <p:nvSpPr>
          <p:cNvPr id="9" name="Slide Number Placeholder 8">
            <a:extLst>
              <a:ext uri="{FF2B5EF4-FFF2-40B4-BE49-F238E27FC236}">
                <a16:creationId xmlns:a16="http://schemas.microsoft.com/office/drawing/2014/main" id="{92312360-A111-92A1-C902-F8DEEBD7B38B}"/>
              </a:ext>
            </a:extLst>
          </p:cNvPr>
          <p:cNvSpPr>
            <a:spLocks noGrp="1"/>
          </p:cNvSpPr>
          <p:nvPr>
            <p:ph type="sldNum" sz="quarter" idx="12"/>
          </p:nvPr>
        </p:nvSpPr>
        <p:spPr>
          <a:xfrm>
            <a:off x="9097470" y="6296687"/>
            <a:ext cx="2743200" cy="365125"/>
          </a:xfrm>
        </p:spPr>
        <p:txBody>
          <a:bodyPr/>
          <a:lstStyle/>
          <a:p>
            <a:fld id="{D19EB42E-18EF-4ADA-8D91-F15AD1AFC8DD}" type="slidenum">
              <a:rPr lang="en-IN" smtClean="0"/>
              <a:t>1</a:t>
            </a:fld>
            <a:endParaRPr lang="en-IN" dirty="0"/>
          </a:p>
        </p:txBody>
      </p:sp>
      <p:pic>
        <p:nvPicPr>
          <p:cNvPr id="3" name="Picture 2">
            <a:extLst>
              <a:ext uri="{FF2B5EF4-FFF2-40B4-BE49-F238E27FC236}">
                <a16:creationId xmlns:a16="http://schemas.microsoft.com/office/drawing/2014/main" id="{663AB55B-55D4-9683-D0F5-193F00A70B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85593" y="196188"/>
            <a:ext cx="1076630" cy="1076630"/>
          </a:xfrm>
          <a:prstGeom prst="rect">
            <a:avLst/>
          </a:prstGeom>
        </p:spPr>
      </p:pic>
      <p:pic>
        <p:nvPicPr>
          <p:cNvPr id="10" name="Picture 9">
            <a:extLst>
              <a:ext uri="{FF2B5EF4-FFF2-40B4-BE49-F238E27FC236}">
                <a16:creationId xmlns:a16="http://schemas.microsoft.com/office/drawing/2014/main" id="{D1572CC8-04D1-FCE8-863C-0F3894D25F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0021" y="246767"/>
            <a:ext cx="1537116" cy="1076630"/>
          </a:xfrm>
          <a:prstGeom prst="rect">
            <a:avLst/>
          </a:prstGeom>
        </p:spPr>
      </p:pic>
      <p:sp>
        <p:nvSpPr>
          <p:cNvPr id="11" name="object 5">
            <a:extLst>
              <a:ext uri="{FF2B5EF4-FFF2-40B4-BE49-F238E27FC236}">
                <a16:creationId xmlns:a16="http://schemas.microsoft.com/office/drawing/2014/main" id="{B7CBF8E9-E37A-118A-5084-3AE08104C31A}"/>
              </a:ext>
            </a:extLst>
          </p:cNvPr>
          <p:cNvSpPr txBox="1">
            <a:spLocks/>
          </p:cNvSpPr>
          <p:nvPr/>
        </p:nvSpPr>
        <p:spPr>
          <a:xfrm>
            <a:off x="351331" y="195029"/>
            <a:ext cx="11534602" cy="380873"/>
          </a:xfrm>
          <a:prstGeom prst="rect">
            <a:avLst/>
          </a:prstGeom>
        </p:spPr>
        <p:txBody>
          <a:bodyPr vert="horz" wrap="square" lIns="0" tIns="1143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90"/>
              </a:spcBef>
            </a:pPr>
            <a:r>
              <a:rPr lang="en-US" sz="2400" b="1" spc="-75" dirty="0">
                <a:solidFill>
                  <a:srgbClr val="FF5757"/>
                </a:solidFill>
                <a:latin typeface="Times New Roman" panose="02020603050405020304" pitchFamily="18" charset="0"/>
                <a:cs typeface="Times New Roman" panose="02020603050405020304" pitchFamily="18" charset="0"/>
              </a:rPr>
              <a:t>Vivekananda</a:t>
            </a:r>
            <a:r>
              <a:rPr lang="en-US" sz="2400" b="1" spc="-105" dirty="0">
                <a:solidFill>
                  <a:srgbClr val="FF5757"/>
                </a:solidFill>
                <a:latin typeface="Times New Roman" panose="02020603050405020304" pitchFamily="18" charset="0"/>
                <a:cs typeface="Times New Roman" panose="02020603050405020304" pitchFamily="18" charset="0"/>
              </a:rPr>
              <a:t> </a:t>
            </a:r>
            <a:r>
              <a:rPr lang="en-US" sz="2400" b="1" spc="-60" dirty="0">
                <a:solidFill>
                  <a:srgbClr val="FF5757"/>
                </a:solidFill>
                <a:latin typeface="Times New Roman" panose="02020603050405020304" pitchFamily="18" charset="0"/>
                <a:cs typeface="Times New Roman" panose="02020603050405020304" pitchFamily="18" charset="0"/>
              </a:rPr>
              <a:t>College</a:t>
            </a:r>
            <a:r>
              <a:rPr lang="en-US" sz="2400" b="1" spc="-105" dirty="0">
                <a:solidFill>
                  <a:srgbClr val="FF5757"/>
                </a:solidFill>
                <a:latin typeface="Times New Roman" panose="02020603050405020304" pitchFamily="18" charset="0"/>
                <a:cs typeface="Times New Roman" panose="02020603050405020304" pitchFamily="18" charset="0"/>
              </a:rPr>
              <a:t> </a:t>
            </a:r>
            <a:r>
              <a:rPr lang="en-US" sz="2400" b="1" spc="90" dirty="0">
                <a:solidFill>
                  <a:srgbClr val="FF5757"/>
                </a:solidFill>
                <a:latin typeface="Times New Roman" panose="02020603050405020304" pitchFamily="18" charset="0"/>
                <a:cs typeface="Times New Roman" panose="02020603050405020304" pitchFamily="18" charset="0"/>
              </a:rPr>
              <a:t>of</a:t>
            </a:r>
            <a:r>
              <a:rPr lang="en-US" sz="2400" b="1" spc="-100" dirty="0">
                <a:solidFill>
                  <a:srgbClr val="FF5757"/>
                </a:solidFill>
                <a:latin typeface="Times New Roman" panose="02020603050405020304" pitchFamily="18" charset="0"/>
                <a:cs typeface="Times New Roman" panose="02020603050405020304" pitchFamily="18" charset="0"/>
              </a:rPr>
              <a:t> </a:t>
            </a:r>
            <a:r>
              <a:rPr lang="en-US" sz="2400" b="1" spc="-60" dirty="0">
                <a:solidFill>
                  <a:srgbClr val="FF5757"/>
                </a:solidFill>
                <a:latin typeface="Times New Roman" panose="02020603050405020304" pitchFamily="18" charset="0"/>
                <a:cs typeface="Times New Roman" panose="02020603050405020304" pitchFamily="18" charset="0"/>
              </a:rPr>
              <a:t>Engineering</a:t>
            </a:r>
            <a:r>
              <a:rPr lang="en-US" sz="2400" b="1" spc="-105" dirty="0">
                <a:solidFill>
                  <a:srgbClr val="FF5757"/>
                </a:solidFill>
                <a:latin typeface="Times New Roman" panose="02020603050405020304" pitchFamily="18" charset="0"/>
                <a:cs typeface="Times New Roman" panose="02020603050405020304" pitchFamily="18" charset="0"/>
              </a:rPr>
              <a:t> </a:t>
            </a:r>
            <a:r>
              <a:rPr lang="en-US" sz="2400" b="1" spc="20" dirty="0">
                <a:solidFill>
                  <a:srgbClr val="FF5757"/>
                </a:solidFill>
                <a:latin typeface="Times New Roman" panose="02020603050405020304" pitchFamily="18" charset="0"/>
                <a:cs typeface="Times New Roman" panose="02020603050405020304" pitchFamily="18" charset="0"/>
              </a:rPr>
              <a:t>&amp;</a:t>
            </a:r>
            <a:r>
              <a:rPr lang="en-US" sz="2400" b="1" spc="-105" dirty="0">
                <a:solidFill>
                  <a:srgbClr val="FF5757"/>
                </a:solidFill>
                <a:latin typeface="Times New Roman" panose="02020603050405020304" pitchFamily="18" charset="0"/>
                <a:cs typeface="Times New Roman" panose="02020603050405020304" pitchFamily="18" charset="0"/>
              </a:rPr>
              <a:t> </a:t>
            </a:r>
            <a:r>
              <a:rPr lang="en-US" sz="2400" b="1" spc="-55" dirty="0">
                <a:solidFill>
                  <a:srgbClr val="FF5757"/>
                </a:solidFill>
                <a:latin typeface="Times New Roman" panose="02020603050405020304" pitchFamily="18" charset="0"/>
                <a:cs typeface="Times New Roman" panose="02020603050405020304" pitchFamily="18" charset="0"/>
              </a:rPr>
              <a:t>Technology</a:t>
            </a:r>
            <a:endParaRPr lang="en-US" sz="2400" b="1" dirty="0">
              <a:latin typeface="Times New Roman" panose="02020603050405020304" pitchFamily="18" charset="0"/>
              <a:cs typeface="Times New Roman" panose="02020603050405020304" pitchFamily="18" charset="0"/>
            </a:endParaRPr>
          </a:p>
        </p:txBody>
      </p:sp>
      <p:sp>
        <p:nvSpPr>
          <p:cNvPr id="12" name="object 6">
            <a:extLst>
              <a:ext uri="{FF2B5EF4-FFF2-40B4-BE49-F238E27FC236}">
                <a16:creationId xmlns:a16="http://schemas.microsoft.com/office/drawing/2014/main" id="{AB001810-DAC0-E6DC-8CD9-64C68AB535DA}"/>
              </a:ext>
            </a:extLst>
          </p:cNvPr>
          <p:cNvSpPr txBox="1"/>
          <p:nvPr/>
        </p:nvSpPr>
        <p:spPr>
          <a:xfrm>
            <a:off x="351330" y="435622"/>
            <a:ext cx="11489340" cy="1125116"/>
          </a:xfrm>
          <a:prstGeom prst="rect">
            <a:avLst/>
          </a:prstGeom>
        </p:spPr>
        <p:txBody>
          <a:bodyPr vert="horz" wrap="square" lIns="0" tIns="62230" rIns="0" bIns="0" rtlCol="0">
            <a:spAutoFit/>
          </a:bodyPr>
          <a:lstStyle/>
          <a:p>
            <a:pPr marL="920115" marR="912495" algn="ctr">
              <a:lnSpc>
                <a:spcPts val="3300"/>
              </a:lnSpc>
              <a:spcBef>
                <a:spcPts val="490"/>
              </a:spcBef>
            </a:pPr>
            <a:r>
              <a:rPr sz="1400" spc="30" dirty="0">
                <a:solidFill>
                  <a:srgbClr val="2B2B2B"/>
                </a:solidFill>
                <a:latin typeface="Times New Roman" panose="02020603050405020304" pitchFamily="18" charset="0"/>
                <a:cs typeface="Times New Roman" panose="02020603050405020304" pitchFamily="18" charset="0"/>
              </a:rPr>
              <a:t>[A</a:t>
            </a:r>
            <a:r>
              <a:rPr sz="1400" spc="-70" dirty="0">
                <a:solidFill>
                  <a:srgbClr val="2B2B2B"/>
                </a:solidFill>
                <a:latin typeface="Times New Roman" panose="02020603050405020304" pitchFamily="18" charset="0"/>
                <a:cs typeface="Times New Roman" panose="02020603050405020304" pitchFamily="18" charset="0"/>
              </a:rPr>
              <a:t> </a:t>
            </a:r>
            <a:r>
              <a:rPr sz="1400" spc="40" dirty="0">
                <a:solidFill>
                  <a:srgbClr val="2B2B2B"/>
                </a:solidFill>
                <a:latin typeface="Times New Roman" panose="02020603050405020304" pitchFamily="18" charset="0"/>
                <a:cs typeface="Times New Roman" panose="02020603050405020304" pitchFamily="18" charset="0"/>
              </a:rPr>
              <a:t>Unit</a:t>
            </a:r>
            <a:r>
              <a:rPr sz="1400" spc="-65" dirty="0">
                <a:solidFill>
                  <a:srgbClr val="2B2B2B"/>
                </a:solidFill>
                <a:latin typeface="Times New Roman" panose="02020603050405020304" pitchFamily="18" charset="0"/>
                <a:cs typeface="Times New Roman" panose="02020603050405020304" pitchFamily="18" charset="0"/>
              </a:rPr>
              <a:t> </a:t>
            </a:r>
            <a:r>
              <a:rPr sz="1400" spc="80" dirty="0">
                <a:solidFill>
                  <a:srgbClr val="2B2B2B"/>
                </a:solidFill>
                <a:latin typeface="Times New Roman" panose="02020603050405020304" pitchFamily="18" charset="0"/>
                <a:cs typeface="Times New Roman" panose="02020603050405020304" pitchFamily="18" charset="0"/>
              </a:rPr>
              <a:t>of</a:t>
            </a:r>
            <a:r>
              <a:rPr sz="1400" spc="-65" dirty="0">
                <a:solidFill>
                  <a:srgbClr val="2B2B2B"/>
                </a:solidFill>
                <a:latin typeface="Times New Roman" panose="02020603050405020304" pitchFamily="18" charset="0"/>
                <a:cs typeface="Times New Roman" panose="02020603050405020304" pitchFamily="18" charset="0"/>
              </a:rPr>
              <a:t> </a:t>
            </a:r>
            <a:r>
              <a:rPr sz="1400" spc="-35" dirty="0">
                <a:solidFill>
                  <a:srgbClr val="2B2B2B"/>
                </a:solidFill>
                <a:latin typeface="Times New Roman" panose="02020603050405020304" pitchFamily="18" charset="0"/>
                <a:cs typeface="Times New Roman" panose="02020603050405020304" pitchFamily="18" charset="0"/>
              </a:rPr>
              <a:t>Vivekananda</a:t>
            </a:r>
            <a:r>
              <a:rPr sz="1400" spc="-70" dirty="0">
                <a:solidFill>
                  <a:srgbClr val="2B2B2B"/>
                </a:solidFill>
                <a:latin typeface="Times New Roman" panose="02020603050405020304" pitchFamily="18" charset="0"/>
                <a:cs typeface="Times New Roman" panose="02020603050405020304" pitchFamily="18" charset="0"/>
              </a:rPr>
              <a:t> </a:t>
            </a:r>
            <a:r>
              <a:rPr sz="1400" spc="-20" dirty="0">
                <a:solidFill>
                  <a:srgbClr val="2B2B2B"/>
                </a:solidFill>
                <a:latin typeface="Times New Roman" panose="02020603050405020304" pitchFamily="18" charset="0"/>
                <a:cs typeface="Times New Roman" panose="02020603050405020304" pitchFamily="18" charset="0"/>
              </a:rPr>
              <a:t>Vidyavardhaka</a:t>
            </a:r>
            <a:r>
              <a:rPr sz="1400" spc="-65" dirty="0">
                <a:solidFill>
                  <a:srgbClr val="2B2B2B"/>
                </a:solidFill>
                <a:latin typeface="Times New Roman" panose="02020603050405020304" pitchFamily="18" charset="0"/>
                <a:cs typeface="Times New Roman" panose="02020603050405020304" pitchFamily="18" charset="0"/>
              </a:rPr>
              <a:t> </a:t>
            </a:r>
            <a:r>
              <a:rPr sz="1400" spc="-120" dirty="0">
                <a:solidFill>
                  <a:srgbClr val="2B2B2B"/>
                </a:solidFill>
                <a:latin typeface="Times New Roman" panose="02020603050405020304" pitchFamily="18" charset="0"/>
                <a:cs typeface="Times New Roman" panose="02020603050405020304" pitchFamily="18" charset="0"/>
              </a:rPr>
              <a:t>Sangha</a:t>
            </a:r>
            <a:r>
              <a:rPr sz="1400" spc="-65" dirty="0">
                <a:solidFill>
                  <a:srgbClr val="2B2B2B"/>
                </a:solidFill>
                <a:latin typeface="Times New Roman" panose="02020603050405020304" pitchFamily="18" charset="0"/>
                <a:cs typeface="Times New Roman" panose="02020603050405020304" pitchFamily="18" charset="0"/>
              </a:rPr>
              <a:t> </a:t>
            </a:r>
            <a:r>
              <a:rPr sz="1400" spc="100" dirty="0">
                <a:solidFill>
                  <a:srgbClr val="2B2B2B"/>
                </a:solidFill>
                <a:latin typeface="Times New Roman" panose="02020603050405020304" pitchFamily="18" charset="0"/>
                <a:cs typeface="Times New Roman" panose="02020603050405020304" pitchFamily="18" charset="0"/>
              </a:rPr>
              <a:t>Puttur®] </a:t>
            </a:r>
            <a:endParaRPr lang="en-US" sz="1400" spc="100" dirty="0">
              <a:solidFill>
                <a:srgbClr val="2B2B2B"/>
              </a:solidFill>
              <a:latin typeface="Times New Roman" panose="02020603050405020304" pitchFamily="18" charset="0"/>
              <a:cs typeface="Times New Roman" panose="02020603050405020304" pitchFamily="18" charset="0"/>
            </a:endParaRPr>
          </a:p>
          <a:p>
            <a:pPr marL="920115" marR="912495" algn="ctr">
              <a:spcBef>
                <a:spcPts val="490"/>
              </a:spcBef>
            </a:pPr>
            <a:r>
              <a:rPr sz="1400" spc="-819" dirty="0">
                <a:solidFill>
                  <a:srgbClr val="2B2B2B"/>
                </a:solidFill>
                <a:latin typeface="Times New Roman" panose="02020603050405020304" pitchFamily="18" charset="0"/>
                <a:cs typeface="Times New Roman" panose="02020603050405020304" pitchFamily="18" charset="0"/>
              </a:rPr>
              <a:t> </a:t>
            </a:r>
            <a:r>
              <a:rPr sz="1400" spc="55" dirty="0">
                <a:solidFill>
                  <a:srgbClr val="5270FF"/>
                </a:solidFill>
                <a:latin typeface="Times New Roman" panose="02020603050405020304" pitchFamily="18" charset="0"/>
                <a:cs typeface="Times New Roman" panose="02020603050405020304" pitchFamily="18" charset="0"/>
              </a:rPr>
              <a:t>Affiliated</a:t>
            </a:r>
            <a:r>
              <a:rPr sz="1400" spc="-70" dirty="0">
                <a:solidFill>
                  <a:srgbClr val="5270FF"/>
                </a:solidFill>
                <a:latin typeface="Times New Roman" panose="02020603050405020304" pitchFamily="18" charset="0"/>
                <a:cs typeface="Times New Roman" panose="02020603050405020304" pitchFamily="18" charset="0"/>
              </a:rPr>
              <a:t> </a:t>
            </a:r>
            <a:r>
              <a:rPr sz="1400" spc="100" dirty="0">
                <a:solidFill>
                  <a:srgbClr val="5270FF"/>
                </a:solidFill>
                <a:latin typeface="Times New Roman" panose="02020603050405020304" pitchFamily="18" charset="0"/>
                <a:cs typeface="Times New Roman" panose="02020603050405020304" pitchFamily="18" charset="0"/>
              </a:rPr>
              <a:t>to</a:t>
            </a:r>
            <a:r>
              <a:rPr sz="1400" spc="-65" dirty="0">
                <a:solidFill>
                  <a:srgbClr val="5270FF"/>
                </a:solidFill>
                <a:latin typeface="Times New Roman" panose="02020603050405020304" pitchFamily="18" charset="0"/>
                <a:cs typeface="Times New Roman" panose="02020603050405020304" pitchFamily="18" charset="0"/>
              </a:rPr>
              <a:t> </a:t>
            </a:r>
            <a:r>
              <a:rPr sz="1400" spc="-70" dirty="0">
                <a:solidFill>
                  <a:srgbClr val="5270FF"/>
                </a:solidFill>
                <a:latin typeface="Times New Roman" panose="02020603050405020304" pitchFamily="18" charset="0"/>
                <a:cs typeface="Times New Roman" panose="02020603050405020304" pitchFamily="18" charset="0"/>
              </a:rPr>
              <a:t>Visvesvaraya</a:t>
            </a:r>
            <a:r>
              <a:rPr sz="1400" spc="-65" dirty="0">
                <a:solidFill>
                  <a:srgbClr val="5270FF"/>
                </a:solidFill>
                <a:latin typeface="Times New Roman" panose="02020603050405020304" pitchFamily="18" charset="0"/>
                <a:cs typeface="Times New Roman" panose="02020603050405020304" pitchFamily="18" charset="0"/>
              </a:rPr>
              <a:t> </a:t>
            </a:r>
            <a:r>
              <a:rPr sz="1400" spc="-15" dirty="0">
                <a:solidFill>
                  <a:srgbClr val="5270FF"/>
                </a:solidFill>
                <a:latin typeface="Times New Roman" panose="02020603050405020304" pitchFamily="18" charset="0"/>
                <a:cs typeface="Times New Roman" panose="02020603050405020304" pitchFamily="18" charset="0"/>
              </a:rPr>
              <a:t>Technological</a:t>
            </a:r>
            <a:r>
              <a:rPr sz="1400" spc="-65" dirty="0">
                <a:solidFill>
                  <a:srgbClr val="5270FF"/>
                </a:solidFill>
                <a:latin typeface="Times New Roman" panose="02020603050405020304" pitchFamily="18" charset="0"/>
                <a:cs typeface="Times New Roman" panose="02020603050405020304" pitchFamily="18" charset="0"/>
              </a:rPr>
              <a:t> </a:t>
            </a:r>
            <a:r>
              <a:rPr sz="1400" dirty="0">
                <a:solidFill>
                  <a:srgbClr val="5270FF"/>
                </a:solidFill>
                <a:latin typeface="Times New Roman" panose="02020603050405020304" pitchFamily="18" charset="0"/>
                <a:cs typeface="Times New Roman" panose="02020603050405020304" pitchFamily="18" charset="0"/>
              </a:rPr>
              <a:t>University</a:t>
            </a:r>
            <a:endParaRPr sz="1400" dirty="0">
              <a:latin typeface="Times New Roman" panose="02020603050405020304" pitchFamily="18" charset="0"/>
              <a:cs typeface="Times New Roman" panose="02020603050405020304" pitchFamily="18" charset="0"/>
            </a:endParaRPr>
          </a:p>
          <a:p>
            <a:pPr algn="ctr">
              <a:lnSpc>
                <a:spcPts val="3315"/>
              </a:lnSpc>
            </a:pPr>
            <a:r>
              <a:rPr sz="1400" dirty="0">
                <a:solidFill>
                  <a:srgbClr val="5270FF"/>
                </a:solidFill>
                <a:latin typeface="Times New Roman" panose="02020603050405020304" pitchFamily="18" charset="0"/>
                <a:cs typeface="Times New Roman" panose="02020603050405020304" pitchFamily="18" charset="0"/>
              </a:rPr>
              <a:t>Approved</a:t>
            </a:r>
            <a:r>
              <a:rPr sz="1400" spc="-70" dirty="0">
                <a:solidFill>
                  <a:srgbClr val="5270FF"/>
                </a:solidFill>
                <a:latin typeface="Times New Roman" panose="02020603050405020304" pitchFamily="18" charset="0"/>
                <a:cs typeface="Times New Roman" panose="02020603050405020304" pitchFamily="18" charset="0"/>
              </a:rPr>
              <a:t> </a:t>
            </a:r>
            <a:r>
              <a:rPr sz="1400" spc="5" dirty="0">
                <a:solidFill>
                  <a:srgbClr val="5270FF"/>
                </a:solidFill>
                <a:latin typeface="Times New Roman" panose="02020603050405020304" pitchFamily="18" charset="0"/>
                <a:cs typeface="Times New Roman" panose="02020603050405020304" pitchFamily="18" charset="0"/>
              </a:rPr>
              <a:t>by</a:t>
            </a:r>
            <a:r>
              <a:rPr sz="1400" spc="-65" dirty="0">
                <a:solidFill>
                  <a:srgbClr val="5270FF"/>
                </a:solidFill>
                <a:latin typeface="Times New Roman" panose="02020603050405020304" pitchFamily="18" charset="0"/>
                <a:cs typeface="Times New Roman" panose="02020603050405020304" pitchFamily="18" charset="0"/>
              </a:rPr>
              <a:t> </a:t>
            </a:r>
            <a:r>
              <a:rPr sz="1400" spc="-55" dirty="0">
                <a:solidFill>
                  <a:srgbClr val="5270FF"/>
                </a:solidFill>
                <a:latin typeface="Times New Roman" panose="02020603050405020304" pitchFamily="18" charset="0"/>
                <a:cs typeface="Times New Roman" panose="02020603050405020304" pitchFamily="18" charset="0"/>
              </a:rPr>
              <a:t>AICTE</a:t>
            </a:r>
            <a:r>
              <a:rPr sz="1400" spc="-70" dirty="0">
                <a:solidFill>
                  <a:srgbClr val="5270FF"/>
                </a:solidFill>
                <a:latin typeface="Times New Roman" panose="02020603050405020304" pitchFamily="18" charset="0"/>
                <a:cs typeface="Times New Roman" panose="02020603050405020304" pitchFamily="18" charset="0"/>
              </a:rPr>
              <a:t> New</a:t>
            </a:r>
            <a:r>
              <a:rPr sz="1400" spc="-65" dirty="0">
                <a:solidFill>
                  <a:srgbClr val="5270FF"/>
                </a:solidFill>
                <a:latin typeface="Times New Roman" panose="02020603050405020304" pitchFamily="18" charset="0"/>
                <a:cs typeface="Times New Roman" panose="02020603050405020304" pitchFamily="18" charset="0"/>
              </a:rPr>
              <a:t> </a:t>
            </a:r>
            <a:r>
              <a:rPr sz="1400" spc="5" dirty="0">
                <a:solidFill>
                  <a:srgbClr val="5270FF"/>
                </a:solidFill>
                <a:latin typeface="Times New Roman" panose="02020603050405020304" pitchFamily="18" charset="0"/>
                <a:cs typeface="Times New Roman" panose="02020603050405020304" pitchFamily="18" charset="0"/>
              </a:rPr>
              <a:t>Delhi</a:t>
            </a:r>
            <a:r>
              <a:rPr sz="1400" spc="-70" dirty="0">
                <a:solidFill>
                  <a:srgbClr val="5270FF"/>
                </a:solidFill>
                <a:latin typeface="Times New Roman" panose="02020603050405020304" pitchFamily="18" charset="0"/>
                <a:cs typeface="Times New Roman" panose="02020603050405020304" pitchFamily="18" charset="0"/>
              </a:rPr>
              <a:t> </a:t>
            </a:r>
            <a:r>
              <a:rPr sz="1400" spc="40" dirty="0">
                <a:solidFill>
                  <a:srgbClr val="5270FF"/>
                </a:solidFill>
                <a:latin typeface="Times New Roman" panose="02020603050405020304" pitchFamily="18" charset="0"/>
                <a:cs typeface="Times New Roman" panose="02020603050405020304" pitchFamily="18" charset="0"/>
              </a:rPr>
              <a:t>&amp;</a:t>
            </a:r>
            <a:r>
              <a:rPr sz="1400" spc="-65" dirty="0">
                <a:solidFill>
                  <a:srgbClr val="5270FF"/>
                </a:solidFill>
                <a:latin typeface="Times New Roman" panose="02020603050405020304" pitchFamily="18" charset="0"/>
                <a:cs typeface="Times New Roman" panose="02020603050405020304" pitchFamily="18" charset="0"/>
              </a:rPr>
              <a:t> </a:t>
            </a:r>
            <a:r>
              <a:rPr sz="1400" spc="-85" dirty="0">
                <a:solidFill>
                  <a:srgbClr val="5270FF"/>
                </a:solidFill>
                <a:latin typeface="Times New Roman" panose="02020603050405020304" pitchFamily="18" charset="0"/>
                <a:cs typeface="Times New Roman" panose="02020603050405020304" pitchFamily="18" charset="0"/>
              </a:rPr>
              <a:t>Recognised</a:t>
            </a:r>
            <a:r>
              <a:rPr sz="1400" spc="-70" dirty="0">
                <a:solidFill>
                  <a:srgbClr val="5270FF"/>
                </a:solidFill>
                <a:latin typeface="Times New Roman" panose="02020603050405020304" pitchFamily="18" charset="0"/>
                <a:cs typeface="Times New Roman" panose="02020603050405020304" pitchFamily="18" charset="0"/>
              </a:rPr>
              <a:t> </a:t>
            </a:r>
            <a:r>
              <a:rPr sz="1400" spc="5" dirty="0">
                <a:solidFill>
                  <a:srgbClr val="5270FF"/>
                </a:solidFill>
                <a:latin typeface="Times New Roman" panose="02020603050405020304" pitchFamily="18" charset="0"/>
                <a:cs typeface="Times New Roman" panose="02020603050405020304" pitchFamily="18" charset="0"/>
              </a:rPr>
              <a:t>by</a:t>
            </a:r>
            <a:r>
              <a:rPr sz="1400" spc="-65" dirty="0">
                <a:solidFill>
                  <a:srgbClr val="5270FF"/>
                </a:solidFill>
                <a:latin typeface="Times New Roman" panose="02020603050405020304" pitchFamily="18" charset="0"/>
                <a:cs typeface="Times New Roman" panose="02020603050405020304" pitchFamily="18" charset="0"/>
              </a:rPr>
              <a:t> </a:t>
            </a:r>
            <a:r>
              <a:rPr sz="1400" spc="10" dirty="0">
                <a:solidFill>
                  <a:srgbClr val="5270FF"/>
                </a:solidFill>
                <a:latin typeface="Times New Roman" panose="02020603050405020304" pitchFamily="18" charset="0"/>
                <a:cs typeface="Times New Roman" panose="02020603050405020304" pitchFamily="18" charset="0"/>
              </a:rPr>
              <a:t>Govt</a:t>
            </a:r>
            <a:r>
              <a:rPr sz="1400" spc="-70" dirty="0">
                <a:solidFill>
                  <a:srgbClr val="5270FF"/>
                </a:solidFill>
                <a:latin typeface="Times New Roman" panose="02020603050405020304" pitchFamily="18" charset="0"/>
                <a:cs typeface="Times New Roman" panose="02020603050405020304" pitchFamily="18" charset="0"/>
              </a:rPr>
              <a:t> </a:t>
            </a:r>
            <a:r>
              <a:rPr sz="1400" spc="80" dirty="0">
                <a:solidFill>
                  <a:srgbClr val="5270FF"/>
                </a:solidFill>
                <a:latin typeface="Times New Roman" panose="02020603050405020304" pitchFamily="18" charset="0"/>
                <a:cs typeface="Times New Roman" panose="02020603050405020304" pitchFamily="18" charset="0"/>
              </a:rPr>
              <a:t>of</a:t>
            </a:r>
            <a:r>
              <a:rPr sz="1400" spc="-65" dirty="0">
                <a:solidFill>
                  <a:srgbClr val="5270FF"/>
                </a:solidFill>
                <a:latin typeface="Times New Roman" panose="02020603050405020304" pitchFamily="18" charset="0"/>
                <a:cs typeface="Times New Roman" panose="02020603050405020304" pitchFamily="18" charset="0"/>
              </a:rPr>
              <a:t> </a:t>
            </a:r>
            <a:r>
              <a:rPr sz="1400" spc="15" dirty="0">
                <a:solidFill>
                  <a:srgbClr val="5270FF"/>
                </a:solidFill>
                <a:latin typeface="Times New Roman" panose="02020603050405020304" pitchFamily="18" charset="0"/>
                <a:cs typeface="Times New Roman" panose="02020603050405020304" pitchFamily="18" charset="0"/>
              </a:rPr>
              <a:t>Karnataka</a:t>
            </a:r>
            <a:endParaRPr sz="14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28646B24-36A0-8B17-5D75-BB538F58FE40}"/>
              </a:ext>
            </a:extLst>
          </p:cNvPr>
          <p:cNvSpPr txBox="1"/>
          <p:nvPr/>
        </p:nvSpPr>
        <p:spPr>
          <a:xfrm>
            <a:off x="351330" y="1655518"/>
            <a:ext cx="11489340" cy="369332"/>
          </a:xfrm>
          <a:prstGeom prst="rect">
            <a:avLst/>
          </a:prstGeom>
          <a:noFill/>
        </p:spPr>
        <p:txBody>
          <a:bodyPr wrap="square" rtlCol="0">
            <a:spAutoFit/>
          </a:bodyPr>
          <a:lstStyle/>
          <a:p>
            <a:pPr algn="ctr"/>
            <a:r>
              <a:rPr lang="en-US" sz="1800" b="1" spc="-120" dirty="0">
                <a:solidFill>
                  <a:srgbClr val="FF5757"/>
                </a:solidFill>
                <a:latin typeface="Times New Roman" panose="02020603050405020304" pitchFamily="18" charset="0"/>
                <a:cs typeface="Times New Roman" panose="02020603050405020304" pitchFamily="18" charset="0"/>
              </a:rPr>
              <a:t>DEPARTMENT</a:t>
            </a:r>
            <a:r>
              <a:rPr lang="en-US" sz="1800" b="1" spc="-75" dirty="0">
                <a:solidFill>
                  <a:srgbClr val="FF5757"/>
                </a:solidFill>
                <a:latin typeface="Times New Roman" panose="02020603050405020304" pitchFamily="18" charset="0"/>
                <a:cs typeface="Times New Roman" panose="02020603050405020304" pitchFamily="18" charset="0"/>
              </a:rPr>
              <a:t> </a:t>
            </a:r>
            <a:r>
              <a:rPr lang="en-US" sz="1800" b="1" spc="-70" dirty="0">
                <a:solidFill>
                  <a:srgbClr val="FF5757"/>
                </a:solidFill>
                <a:latin typeface="Times New Roman" panose="02020603050405020304" pitchFamily="18" charset="0"/>
                <a:cs typeface="Times New Roman" panose="02020603050405020304" pitchFamily="18" charset="0"/>
              </a:rPr>
              <a:t>OF </a:t>
            </a:r>
            <a:r>
              <a:rPr lang="en-US" b="1" spc="-70" dirty="0">
                <a:solidFill>
                  <a:srgbClr val="FF5757"/>
                </a:solidFill>
                <a:latin typeface="Times New Roman" panose="02020603050405020304" pitchFamily="18" charset="0"/>
                <a:cs typeface="Times New Roman" panose="02020603050405020304" pitchFamily="18" charset="0"/>
              </a:rPr>
              <a:t>CSE </a:t>
            </a:r>
            <a:r>
              <a:rPr lang="en-US" sz="1800" b="1" spc="-70" dirty="0">
                <a:solidFill>
                  <a:srgbClr val="FF5757"/>
                </a:solidFill>
                <a:latin typeface="Times New Roman" panose="02020603050405020304" pitchFamily="18" charset="0"/>
                <a:cs typeface="Times New Roman" panose="02020603050405020304" pitchFamily="18" charset="0"/>
              </a:rPr>
              <a:t>( DATA SCIENCE )</a:t>
            </a:r>
            <a:endParaRPr lang="en-US" sz="1800" b="1" dirty="0">
              <a:solidFill>
                <a:srgbClr val="FF5757"/>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C98FF11-04AB-5EB9-CFFA-0B20AFA29D15}"/>
              </a:ext>
            </a:extLst>
          </p:cNvPr>
          <p:cNvSpPr txBox="1"/>
          <p:nvPr/>
        </p:nvSpPr>
        <p:spPr>
          <a:xfrm>
            <a:off x="9528903" y="4877296"/>
            <a:ext cx="1903732" cy="707886"/>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Supreetha N S</a:t>
            </a:r>
          </a:p>
          <a:p>
            <a:r>
              <a:rPr lang="en-IN" sz="2000" b="1" dirty="0">
                <a:latin typeface="Times New Roman" panose="02020603050405020304" pitchFamily="18" charset="0"/>
                <a:cs typeface="Times New Roman" panose="02020603050405020304" pitchFamily="18" charset="0"/>
              </a:rPr>
              <a:t>4VP22CD058</a:t>
            </a:r>
          </a:p>
        </p:txBody>
      </p:sp>
    </p:spTree>
    <p:extLst>
      <p:ext uri="{BB962C8B-B14F-4D97-AF65-F5344CB8AC3E}">
        <p14:creationId xmlns:p14="http://schemas.microsoft.com/office/powerpoint/2010/main" val="346119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927DB-0BC4-10A5-F04D-0AAC9C571289}"/>
              </a:ext>
            </a:extLst>
          </p:cNvPr>
          <p:cNvSpPr>
            <a:spLocks noGrp="1"/>
          </p:cNvSpPr>
          <p:nvPr>
            <p:ph type="title"/>
          </p:nvPr>
        </p:nvSpPr>
        <p:spPr>
          <a:xfrm>
            <a:off x="548832" y="412208"/>
            <a:ext cx="10515600" cy="1325563"/>
          </a:xfrm>
        </p:spPr>
        <p:txBody>
          <a:bodyPr/>
          <a:lstStyle/>
          <a:p>
            <a:pPr marL="571500" indent="-571500" algn="just">
              <a:buFont typeface="Wingdings" panose="05000000000000000000" pitchFamily="2" charset="2"/>
              <a:buChar char="Ø"/>
            </a:pPr>
            <a:r>
              <a:rPr lang="en-IN" dirty="0">
                <a:solidFill>
                  <a:schemeClr val="accent1">
                    <a:lumMod val="75000"/>
                  </a:schemeClr>
                </a:solidFill>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533891F3-5C12-F109-C168-313B222F5D26}"/>
              </a:ext>
            </a:extLst>
          </p:cNvPr>
          <p:cNvSpPr>
            <a:spLocks noGrp="1"/>
          </p:cNvSpPr>
          <p:nvPr>
            <p:ph idx="1"/>
          </p:nvPr>
        </p:nvSpPr>
        <p:spPr>
          <a:xfrm>
            <a:off x="349045" y="1737771"/>
            <a:ext cx="11493910" cy="3483158"/>
          </a:xfrm>
        </p:spPr>
        <p:txBody>
          <a:bodyPr>
            <a:normAutofit fontScale="85000" lnSpcReduction="10000"/>
          </a:bodyPr>
          <a:lstStyle/>
          <a:p>
            <a:pPr algn="just">
              <a:lnSpc>
                <a:spcPct val="160000"/>
              </a:lnSpc>
            </a:pPr>
            <a:r>
              <a:rPr lang="en-US" dirty="0">
                <a:latin typeface="Times New Roman" panose="02020603050405020304" pitchFamily="18" charset="0"/>
                <a:cs typeface="Times New Roman" panose="02020603050405020304" pitchFamily="18" charset="0"/>
              </a:rPr>
              <a:t>Timetable scheduling is an NP-Hard combinatorial optimization problem faced by educational institutions. The challenge involves allocating courses, instructors, students, and classrooms to specific time slots while adhering to multiple constraints.</a:t>
            </a:r>
          </a:p>
          <a:p>
            <a:pPr algn="just">
              <a:lnSpc>
                <a:spcPct val="160000"/>
              </a:lnSpc>
            </a:pPr>
            <a:r>
              <a:rPr lang="en-US" dirty="0">
                <a:latin typeface="Times New Roman" panose="02020603050405020304" pitchFamily="18" charset="0"/>
                <a:cs typeface="Times New Roman" panose="02020603050405020304" pitchFamily="18" charset="0"/>
              </a:rPr>
              <a:t> The traditional manual approach to timetable generation is time-consuming, and increases complexity.</a:t>
            </a:r>
            <a:endParaRPr lang="en-IN" sz="2400"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943B2B1A-BAFD-8784-A1B7-51B51F23CE6D}"/>
              </a:ext>
            </a:extLst>
          </p:cNvPr>
          <p:cNvSpPr>
            <a:spLocks noGrp="1"/>
          </p:cNvSpPr>
          <p:nvPr>
            <p:ph type="sldNum" sz="quarter" idx="12"/>
          </p:nvPr>
        </p:nvSpPr>
        <p:spPr>
          <a:xfrm>
            <a:off x="9099755" y="6363929"/>
            <a:ext cx="2743200" cy="365125"/>
          </a:xfrm>
        </p:spPr>
        <p:txBody>
          <a:bodyPr/>
          <a:lstStyle/>
          <a:p>
            <a:fld id="{D19EB42E-18EF-4ADA-8D91-F15AD1AFC8DD}" type="slidenum">
              <a:rPr lang="en-IN" smtClean="0"/>
              <a:t>2</a:t>
            </a:fld>
            <a:endParaRPr lang="en-IN" dirty="0"/>
          </a:p>
        </p:txBody>
      </p:sp>
    </p:spTree>
    <p:extLst>
      <p:ext uri="{BB962C8B-B14F-4D97-AF65-F5344CB8AC3E}">
        <p14:creationId xmlns:p14="http://schemas.microsoft.com/office/powerpoint/2010/main" val="920758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FBB85-F981-C077-3C7A-8E4B68D8D52F}"/>
              </a:ext>
            </a:extLst>
          </p:cNvPr>
          <p:cNvSpPr>
            <a:spLocks noGrp="1"/>
          </p:cNvSpPr>
          <p:nvPr>
            <p:ph type="title"/>
          </p:nvPr>
        </p:nvSpPr>
        <p:spPr>
          <a:xfrm>
            <a:off x="548833" y="411424"/>
            <a:ext cx="10515600" cy="1325563"/>
          </a:xfrm>
        </p:spPr>
        <p:txBody>
          <a:bodyPr/>
          <a:lstStyle/>
          <a:p>
            <a:pPr marL="571500" indent="-571500">
              <a:buFont typeface="Wingdings" panose="05000000000000000000" pitchFamily="2" charset="2"/>
              <a:buChar char="Ø"/>
            </a:pPr>
            <a:r>
              <a:rPr lang="en-IN" dirty="0">
                <a:solidFill>
                  <a:schemeClr val="accent1">
                    <a:lumMod val="75000"/>
                  </a:schemeClr>
                </a:solidFill>
                <a:latin typeface="Times New Roman" panose="02020603050405020304" pitchFamily="18" charset="0"/>
                <a:cs typeface="Times New Roman" panose="02020603050405020304" pitchFamily="18" charset="0"/>
              </a:rPr>
              <a:t>Existing solution</a:t>
            </a:r>
          </a:p>
        </p:txBody>
      </p:sp>
      <p:sp>
        <p:nvSpPr>
          <p:cNvPr id="3" name="Content Placeholder 2">
            <a:extLst>
              <a:ext uri="{FF2B5EF4-FFF2-40B4-BE49-F238E27FC236}">
                <a16:creationId xmlns:a16="http://schemas.microsoft.com/office/drawing/2014/main" id="{B4F899A8-F3CE-8244-9190-3C03DE376DB5}"/>
              </a:ext>
            </a:extLst>
          </p:cNvPr>
          <p:cNvSpPr>
            <a:spLocks noGrp="1"/>
          </p:cNvSpPr>
          <p:nvPr>
            <p:ph idx="1"/>
          </p:nvPr>
        </p:nvSpPr>
        <p:spPr>
          <a:xfrm>
            <a:off x="344129" y="1736987"/>
            <a:ext cx="11503742" cy="3808407"/>
          </a:xfrm>
        </p:spPr>
        <p:txBody>
          <a:bodyPr>
            <a:noAutofit/>
          </a:bodyPr>
          <a:lstStyle/>
          <a:p>
            <a:pPr algn="just">
              <a:lnSpc>
                <a:spcPct val="150000"/>
              </a:lnSpc>
            </a:pPr>
            <a:r>
              <a:rPr lang="en-IN" sz="2400" dirty="0">
                <a:latin typeface="Times New Roman" panose="02020603050405020304" pitchFamily="18" charset="0"/>
                <a:cs typeface="Times New Roman" panose="02020603050405020304" pitchFamily="18" charset="0"/>
              </a:rPr>
              <a:t>Timetables are manually created by coordinators, requiring significant time and effort to ensure proper scheduling. Coordinators must carefully analyse multiple factors to prevent conflicts such as overlapping lectures, faculty unavailability and limited classroom resources, making the process prone to errors.</a:t>
            </a:r>
          </a:p>
          <a:p>
            <a:pPr algn="just">
              <a:lnSpc>
                <a:spcPct val="150000"/>
              </a:lnSpc>
            </a:pPr>
            <a:r>
              <a:rPr lang="en-IN" sz="2400" dirty="0">
                <a:latin typeface="Times New Roman" panose="02020603050405020304" pitchFamily="18" charset="0"/>
                <a:cs typeface="Times New Roman" panose="02020603050405020304" pitchFamily="18" charset="0"/>
              </a:rPr>
              <a:t>The automation techniques do not prove efficient as they are not able to satisfy the constraints where the same faculty member is allotted with continuous classes </a:t>
            </a:r>
          </a:p>
          <a:p>
            <a:pPr algn="just">
              <a:lnSpc>
                <a:spcPct val="150000"/>
              </a:lnSpc>
            </a:pPr>
            <a:endParaRPr lang="en-IN" sz="2400" dirty="0">
              <a:latin typeface="Times New Roman" panose="02020603050405020304" pitchFamily="18" charset="0"/>
              <a:cs typeface="Times New Roman" panose="02020603050405020304" pitchFamily="18" charset="0"/>
            </a:endParaRPr>
          </a:p>
          <a:p>
            <a:pPr algn="just">
              <a:lnSpc>
                <a:spcPct val="150000"/>
              </a:lnSpc>
            </a:pPr>
            <a:endParaRPr lang="en-IN" sz="2400"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F43B6C3C-38C3-E59B-8EAE-58953157FFC4}"/>
              </a:ext>
            </a:extLst>
          </p:cNvPr>
          <p:cNvSpPr>
            <a:spLocks noGrp="1"/>
          </p:cNvSpPr>
          <p:nvPr>
            <p:ph type="sldNum" sz="quarter" idx="12"/>
          </p:nvPr>
        </p:nvSpPr>
        <p:spPr>
          <a:xfrm>
            <a:off x="9085772" y="6356350"/>
            <a:ext cx="2743200" cy="365125"/>
          </a:xfrm>
        </p:spPr>
        <p:txBody>
          <a:bodyPr/>
          <a:lstStyle/>
          <a:p>
            <a:fld id="{D19EB42E-18EF-4ADA-8D91-F15AD1AFC8DD}" type="slidenum">
              <a:rPr lang="en-IN" smtClean="0"/>
              <a:t>3</a:t>
            </a:fld>
            <a:endParaRPr lang="en-IN"/>
          </a:p>
        </p:txBody>
      </p:sp>
    </p:spTree>
    <p:extLst>
      <p:ext uri="{BB962C8B-B14F-4D97-AF65-F5344CB8AC3E}">
        <p14:creationId xmlns:p14="http://schemas.microsoft.com/office/powerpoint/2010/main" val="27901230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B9790-7065-E88F-A651-20A3489F2AEB}"/>
              </a:ext>
            </a:extLst>
          </p:cNvPr>
          <p:cNvSpPr>
            <a:spLocks noGrp="1"/>
          </p:cNvSpPr>
          <p:nvPr>
            <p:ph type="title"/>
          </p:nvPr>
        </p:nvSpPr>
        <p:spPr>
          <a:xfrm>
            <a:off x="548833" y="411423"/>
            <a:ext cx="10515600" cy="1325563"/>
          </a:xfrm>
        </p:spPr>
        <p:txBody>
          <a:bodyPr/>
          <a:lstStyle/>
          <a:p>
            <a:pPr marL="571500" indent="-571500">
              <a:buFont typeface="Wingdings" panose="05000000000000000000" pitchFamily="2" charset="2"/>
              <a:buChar char="Ø"/>
            </a:pPr>
            <a:r>
              <a:rPr lang="en-IN" dirty="0">
                <a:solidFill>
                  <a:schemeClr val="accent1">
                    <a:lumMod val="75000"/>
                  </a:schemeClr>
                </a:solidFill>
                <a:latin typeface="Times New Roman" panose="02020603050405020304" pitchFamily="18" charset="0"/>
                <a:cs typeface="Times New Roman" panose="02020603050405020304" pitchFamily="18" charset="0"/>
              </a:rPr>
              <a:t>Proposed Solution</a:t>
            </a:r>
          </a:p>
        </p:txBody>
      </p:sp>
      <p:sp>
        <p:nvSpPr>
          <p:cNvPr id="3" name="Content Placeholder 2">
            <a:extLst>
              <a:ext uri="{FF2B5EF4-FFF2-40B4-BE49-F238E27FC236}">
                <a16:creationId xmlns:a16="http://schemas.microsoft.com/office/drawing/2014/main" id="{E1110629-7CFF-0CD0-A7EA-799DD1291E9C}"/>
              </a:ext>
            </a:extLst>
          </p:cNvPr>
          <p:cNvSpPr>
            <a:spLocks noGrp="1"/>
          </p:cNvSpPr>
          <p:nvPr>
            <p:ph idx="1"/>
          </p:nvPr>
        </p:nvSpPr>
        <p:spPr>
          <a:xfrm>
            <a:off x="344129" y="1736986"/>
            <a:ext cx="11513574" cy="3837904"/>
          </a:xfrm>
        </p:spPr>
        <p:txBody>
          <a:bodyPr>
            <a:normAutofit/>
          </a:bodyPr>
          <a:lstStyle/>
          <a:p>
            <a:pPr algn="just">
              <a:lnSpc>
                <a:spcPct val="150000"/>
              </a:lnSpc>
              <a:buNone/>
            </a:pPr>
            <a:r>
              <a:rPr lang="en-US" sz="2400" dirty="0">
                <a:latin typeface="Times New Roman" panose="02020603050405020304" pitchFamily="18" charset="0"/>
                <a:cs typeface="Times New Roman" panose="02020603050405020304" pitchFamily="18" charset="0"/>
              </a:rPr>
              <a:t>	The proposed solution utilizes a Genetic Algorithm (GA) for automatic timetable generation. GA mimics natural selection principles to evolve an optimal timetable by iteratively improving solution. This method ensures:</a:t>
            </a:r>
          </a:p>
          <a:p>
            <a:pPr lvl="1" algn="just">
              <a:lnSpc>
                <a:spcPct val="150000"/>
              </a:lnSpc>
            </a:pPr>
            <a:r>
              <a:rPr lang="en-US" dirty="0">
                <a:latin typeface="Times New Roman" panose="02020603050405020304" pitchFamily="18" charset="0"/>
                <a:cs typeface="Times New Roman" panose="02020603050405020304" pitchFamily="18" charset="0"/>
              </a:rPr>
              <a:t>Minimized timetable conflicts.</a:t>
            </a:r>
          </a:p>
          <a:p>
            <a:pPr lvl="1" algn="just">
              <a:lnSpc>
                <a:spcPct val="150000"/>
              </a:lnSpc>
            </a:pPr>
            <a:r>
              <a:rPr lang="en-US" dirty="0">
                <a:latin typeface="Times New Roman" panose="02020603050405020304" pitchFamily="18" charset="0"/>
                <a:cs typeface="Times New Roman" panose="02020603050405020304" pitchFamily="18" charset="0"/>
              </a:rPr>
              <a:t>Optimal utilization of resources (classrooms, faculty, and time slots).</a:t>
            </a:r>
          </a:p>
          <a:p>
            <a:pPr lvl="1" algn="just">
              <a:lnSpc>
                <a:spcPct val="150000"/>
              </a:lnSpc>
            </a:pPr>
            <a:r>
              <a:rPr lang="en-US" dirty="0">
                <a:latin typeface="Times New Roman" panose="02020603050405020304" pitchFamily="18" charset="0"/>
                <a:cs typeface="Times New Roman" panose="02020603050405020304" pitchFamily="18" charset="0"/>
              </a:rPr>
              <a:t>Reduction in human intervention and errors.</a:t>
            </a:r>
          </a:p>
          <a:p>
            <a:pPr algn="just">
              <a:lnSpc>
                <a:spcPct val="150000"/>
              </a:lnSpc>
            </a:pPr>
            <a:endParaRPr lang="en-IN" sz="2400"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EFDB9BE3-73BF-04CF-0122-C78DE668ED19}"/>
              </a:ext>
            </a:extLst>
          </p:cNvPr>
          <p:cNvSpPr>
            <a:spLocks noGrp="1"/>
          </p:cNvSpPr>
          <p:nvPr>
            <p:ph type="sldNum" sz="quarter" idx="12"/>
          </p:nvPr>
        </p:nvSpPr>
        <p:spPr>
          <a:xfrm>
            <a:off x="9114503" y="6336253"/>
            <a:ext cx="2743200" cy="365125"/>
          </a:xfrm>
        </p:spPr>
        <p:txBody>
          <a:bodyPr/>
          <a:lstStyle/>
          <a:p>
            <a:fld id="{D19EB42E-18EF-4ADA-8D91-F15AD1AFC8DD}" type="slidenum">
              <a:rPr lang="en-IN" smtClean="0"/>
              <a:t>4</a:t>
            </a:fld>
            <a:endParaRPr lang="en-IN"/>
          </a:p>
        </p:txBody>
      </p:sp>
    </p:spTree>
    <p:extLst>
      <p:ext uri="{BB962C8B-B14F-4D97-AF65-F5344CB8AC3E}">
        <p14:creationId xmlns:p14="http://schemas.microsoft.com/office/powerpoint/2010/main" val="22484657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2E479-4A94-AD9F-DDCA-1BCDA233E8C9}"/>
              </a:ext>
            </a:extLst>
          </p:cNvPr>
          <p:cNvSpPr>
            <a:spLocks noGrp="1"/>
          </p:cNvSpPr>
          <p:nvPr>
            <p:ph type="title"/>
          </p:nvPr>
        </p:nvSpPr>
        <p:spPr/>
        <p:txBody>
          <a:bodyPr/>
          <a:lstStyle/>
          <a:p>
            <a:pPr marL="571500" indent="-571500">
              <a:buFont typeface="Wingdings" panose="05000000000000000000" pitchFamily="2" charset="2"/>
              <a:buChar char="Ø"/>
            </a:pPr>
            <a:r>
              <a:rPr lang="en-IN" dirty="0">
                <a:solidFill>
                  <a:schemeClr val="accent1">
                    <a:lumMod val="75000"/>
                  </a:schemeClr>
                </a:solidFill>
                <a:latin typeface="Times New Roman" panose="02020603050405020304" pitchFamily="18" charset="0"/>
                <a:cs typeface="Times New Roman" panose="02020603050405020304" pitchFamily="18" charset="0"/>
              </a:rPr>
              <a:t>Technology Used</a:t>
            </a:r>
            <a:endParaRPr lang="en-IN" dirty="0"/>
          </a:p>
        </p:txBody>
      </p:sp>
      <p:sp>
        <p:nvSpPr>
          <p:cNvPr id="3" name="Content Placeholder 2">
            <a:extLst>
              <a:ext uri="{FF2B5EF4-FFF2-40B4-BE49-F238E27FC236}">
                <a16:creationId xmlns:a16="http://schemas.microsoft.com/office/drawing/2014/main" id="{2F332767-2708-CB0E-F179-3177C3913D14}"/>
              </a:ext>
            </a:extLst>
          </p:cNvPr>
          <p:cNvSpPr>
            <a:spLocks noGrp="1"/>
          </p:cNvSpPr>
          <p:nvPr>
            <p:ph idx="1"/>
          </p:nvPr>
        </p:nvSpPr>
        <p:spPr>
          <a:xfrm>
            <a:off x="838200" y="1554324"/>
            <a:ext cx="10515600" cy="4667250"/>
          </a:xfrm>
        </p:spPr>
        <p:txBody>
          <a:bodyPr>
            <a:noAutofit/>
          </a:bodyPr>
          <a:lstStyle/>
          <a:p>
            <a:pPr algn="just"/>
            <a:r>
              <a:rPr lang="en-IN" sz="2400" b="1" dirty="0">
                <a:latin typeface="Times New Roman" panose="02020603050405020304" pitchFamily="18" charset="0"/>
                <a:cs typeface="Times New Roman" panose="02020603050405020304" pitchFamily="18" charset="0"/>
              </a:rPr>
              <a:t>Programming language</a:t>
            </a:r>
            <a:r>
              <a:rPr lang="en-IN" sz="2400" dirty="0">
                <a:latin typeface="Times New Roman" panose="02020603050405020304" pitchFamily="18" charset="0"/>
                <a:cs typeface="Times New Roman" panose="02020603050405020304" pitchFamily="18" charset="0"/>
              </a:rPr>
              <a:t>: Python, Django framework</a:t>
            </a:r>
          </a:p>
          <a:p>
            <a:pPr marL="457200" lvl="1" indent="0" algn="just">
              <a:buNone/>
            </a:pPr>
            <a:r>
              <a:rPr lang="en-US" dirty="0">
                <a:latin typeface="Times New Roman" panose="02020603050405020304" pitchFamily="18" charset="0"/>
                <a:cs typeface="Times New Roman" panose="02020603050405020304" pitchFamily="18" charset="0"/>
              </a:rPr>
              <a:t>Python offers extensive libraries that support data processing, optimization, and     user interface creation.</a:t>
            </a:r>
          </a:p>
          <a:p>
            <a:pPr marL="457200" lvl="1" indent="0" algn="just">
              <a:buNone/>
            </a:pPr>
            <a:r>
              <a:rPr lang="en-US" dirty="0">
                <a:latin typeface="Times New Roman" panose="02020603050405020304" pitchFamily="18" charset="0"/>
                <a:cs typeface="Times New Roman" panose="02020603050405020304" pitchFamily="18" charset="0"/>
              </a:rPr>
              <a:t>Python frameworks like Django are utilized for backend development, enabling secure database management and seamless interaction between different system components.</a:t>
            </a:r>
            <a:endParaRPr lang="en-IN"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Algorithm</a:t>
            </a:r>
            <a:r>
              <a:rPr lang="en-IN" sz="2400" dirty="0">
                <a:latin typeface="Times New Roman" panose="02020603050405020304" pitchFamily="18" charset="0"/>
                <a:cs typeface="Times New Roman" panose="02020603050405020304" pitchFamily="18" charset="0"/>
              </a:rPr>
              <a:t>: Genetic Algorithms</a:t>
            </a:r>
          </a:p>
          <a:p>
            <a:pPr marL="457200" lvl="1" indent="0" algn="just">
              <a:buNone/>
            </a:pPr>
            <a:r>
              <a:rPr lang="en-US" dirty="0">
                <a:latin typeface="Times New Roman" panose="02020603050405020304" pitchFamily="18" charset="0"/>
                <a:cs typeface="Times New Roman" panose="02020603050405020304" pitchFamily="18" charset="0"/>
              </a:rPr>
              <a:t>Genetic algorithms (GAs) are frequently applied to timetabling problems, which are known to be NP-hard optimization problems, because GAs are effective for finding optimal or near-optimal feasible solutions among a complex set of variables and constraints.</a:t>
            </a:r>
            <a:endParaRPr lang="en-IN" dirty="0"/>
          </a:p>
        </p:txBody>
      </p:sp>
      <p:sp>
        <p:nvSpPr>
          <p:cNvPr id="4" name="Slide Number Placeholder 3">
            <a:extLst>
              <a:ext uri="{FF2B5EF4-FFF2-40B4-BE49-F238E27FC236}">
                <a16:creationId xmlns:a16="http://schemas.microsoft.com/office/drawing/2014/main" id="{0BD60158-48C8-9AF4-7DF3-4DD911524CFB}"/>
              </a:ext>
            </a:extLst>
          </p:cNvPr>
          <p:cNvSpPr>
            <a:spLocks noGrp="1"/>
          </p:cNvSpPr>
          <p:nvPr>
            <p:ph type="sldNum" sz="quarter" idx="12"/>
          </p:nvPr>
        </p:nvSpPr>
        <p:spPr>
          <a:xfrm>
            <a:off x="9092921" y="6310312"/>
            <a:ext cx="2743200" cy="365125"/>
          </a:xfrm>
        </p:spPr>
        <p:txBody>
          <a:bodyPr/>
          <a:lstStyle/>
          <a:p>
            <a:fld id="{D19EB42E-18EF-4ADA-8D91-F15AD1AFC8DD}" type="slidenum">
              <a:rPr lang="en-IN" smtClean="0"/>
              <a:t>5</a:t>
            </a:fld>
            <a:endParaRPr lang="en-IN"/>
          </a:p>
        </p:txBody>
      </p:sp>
    </p:spTree>
    <p:extLst>
      <p:ext uri="{BB962C8B-B14F-4D97-AF65-F5344CB8AC3E}">
        <p14:creationId xmlns:p14="http://schemas.microsoft.com/office/powerpoint/2010/main" val="73021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00AAC-535A-CA5B-CD60-82440E3F8D60}"/>
              </a:ext>
            </a:extLst>
          </p:cNvPr>
          <p:cNvSpPr>
            <a:spLocks noGrp="1"/>
          </p:cNvSpPr>
          <p:nvPr>
            <p:ph type="title"/>
          </p:nvPr>
        </p:nvSpPr>
        <p:spPr>
          <a:xfrm>
            <a:off x="548834" y="411423"/>
            <a:ext cx="10515600" cy="1325563"/>
          </a:xfrm>
        </p:spPr>
        <p:txBody>
          <a:bodyPr/>
          <a:lstStyle/>
          <a:p>
            <a:pPr marL="571500" indent="-571500">
              <a:buFont typeface="Wingdings" panose="05000000000000000000" pitchFamily="2" charset="2"/>
              <a:buChar char="Ø"/>
            </a:pPr>
            <a:r>
              <a:rPr lang="en-IN" dirty="0">
                <a:solidFill>
                  <a:schemeClr val="accent1">
                    <a:lumMod val="75000"/>
                  </a:schemeClr>
                </a:solidFill>
                <a:latin typeface="Times New Roman" panose="02020603050405020304" pitchFamily="18" charset="0"/>
                <a:cs typeface="Times New Roman" panose="02020603050405020304" pitchFamily="18" charset="0"/>
              </a:rPr>
              <a:t>Requirements</a:t>
            </a:r>
          </a:p>
        </p:txBody>
      </p:sp>
      <p:sp>
        <p:nvSpPr>
          <p:cNvPr id="3" name="Content Placeholder 2">
            <a:extLst>
              <a:ext uri="{FF2B5EF4-FFF2-40B4-BE49-F238E27FC236}">
                <a16:creationId xmlns:a16="http://schemas.microsoft.com/office/drawing/2014/main" id="{1975CCD3-A117-4C76-F635-F31538082751}"/>
              </a:ext>
            </a:extLst>
          </p:cNvPr>
          <p:cNvSpPr>
            <a:spLocks noGrp="1"/>
          </p:cNvSpPr>
          <p:nvPr>
            <p:ph idx="1"/>
          </p:nvPr>
        </p:nvSpPr>
        <p:spPr>
          <a:xfrm>
            <a:off x="344129" y="1736986"/>
            <a:ext cx="10720305" cy="4231195"/>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System Requirements</a:t>
            </a:r>
            <a:r>
              <a:rPr lang="en-US" sz="2400" dirty="0">
                <a:latin typeface="Times New Roman" panose="02020603050405020304" pitchFamily="18" charset="0"/>
                <a:cs typeface="Times New Roman" panose="02020603050405020304" pitchFamily="18" charset="0"/>
              </a:rPr>
              <a:t>:</a:t>
            </a:r>
          </a:p>
          <a:p>
            <a:pPr lvl="1"/>
            <a:r>
              <a:rPr lang="en-US" dirty="0">
                <a:latin typeface="Times New Roman" panose="02020603050405020304" pitchFamily="18" charset="0"/>
                <a:cs typeface="Times New Roman" panose="02020603050405020304" pitchFamily="18" charset="0"/>
              </a:rPr>
              <a:t>PC should have </a:t>
            </a:r>
            <a:r>
              <a:rPr lang="en-US" b="0" i="0" dirty="0">
                <a:solidFill>
                  <a:schemeClr val="tx1">
                    <a:lumMod val="95000"/>
                    <a:lumOff val="5000"/>
                  </a:schemeClr>
                </a:solidFill>
                <a:effectLst/>
                <a:latin typeface="Times New Roman" panose="02020603050405020304" pitchFamily="18" charset="0"/>
                <a:cs typeface="Times New Roman" panose="02020603050405020304" pitchFamily="18" charset="0"/>
              </a:rPr>
              <a:t>at least 4 GB of RAM,</a:t>
            </a:r>
          </a:p>
          <a:p>
            <a:pPr lvl="1"/>
            <a:r>
              <a:rPr lang="en-IN" b="0" i="0" dirty="0">
                <a:solidFill>
                  <a:schemeClr val="tx1">
                    <a:lumMod val="95000"/>
                    <a:lumOff val="5000"/>
                  </a:schemeClr>
                </a:solidFill>
                <a:effectLst/>
                <a:latin typeface="Times New Roman" panose="02020603050405020304" pitchFamily="18" charset="0"/>
                <a:cs typeface="Times New Roman" panose="02020603050405020304" pitchFamily="18" charset="0"/>
              </a:rPr>
              <a:t>Windows 7 and upwards.</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a:p>
            <a:pPr lvl="1"/>
            <a:r>
              <a:rPr lang="en-US" b="0" i="0" dirty="0">
                <a:solidFill>
                  <a:schemeClr val="tx1">
                    <a:lumMod val="95000"/>
                    <a:lumOff val="5000"/>
                  </a:schemeClr>
                </a:solidFill>
                <a:effectLst/>
                <a:latin typeface="Times New Roman" panose="02020603050405020304" pitchFamily="18" charset="0"/>
                <a:cs typeface="Times New Roman" panose="02020603050405020304" pitchFamily="18" charset="0"/>
              </a:rPr>
              <a:t>Python version least 3.8 or above.</a:t>
            </a:r>
          </a:p>
          <a:p>
            <a:pPr lvl="1"/>
            <a:r>
              <a:rPr lang="en-US" dirty="0">
                <a:solidFill>
                  <a:schemeClr val="tx1">
                    <a:lumMod val="95000"/>
                    <a:lumOff val="5000"/>
                  </a:schemeClr>
                </a:solidFill>
                <a:latin typeface="Times New Roman" panose="02020603050405020304" pitchFamily="18" charset="0"/>
                <a:cs typeface="Times New Roman" panose="02020603050405020304" pitchFamily="18" charset="0"/>
              </a:rPr>
              <a:t>SQLite default database.</a:t>
            </a:r>
          </a:p>
          <a:p>
            <a:pPr lvl="1"/>
            <a:r>
              <a:rPr lang="en-US" dirty="0">
                <a:solidFill>
                  <a:schemeClr val="tx1">
                    <a:lumMod val="95000"/>
                    <a:lumOff val="5000"/>
                  </a:schemeClr>
                </a:solidFill>
                <a:latin typeface="Times New Roman" panose="02020603050405020304" pitchFamily="18" charset="0"/>
                <a:cs typeface="Times New Roman" panose="02020603050405020304" pitchFamily="18" charset="0"/>
              </a:rPr>
              <a:t>Internet access.</a:t>
            </a:r>
          </a:p>
          <a:p>
            <a:pPr marL="0" indent="0">
              <a:buNone/>
            </a:pPr>
            <a:r>
              <a:rPr lang="en-US" sz="2400" b="1" dirty="0">
                <a:latin typeface="Times New Roman" panose="02020603050405020304" pitchFamily="18" charset="0"/>
                <a:cs typeface="Times New Roman" panose="02020603050405020304" pitchFamily="18" charset="0"/>
              </a:rPr>
              <a:t>Project Components</a:t>
            </a:r>
            <a:r>
              <a:rPr lang="en-US" sz="2400" dirty="0">
                <a:latin typeface="Times New Roman" panose="02020603050405020304" pitchFamily="18" charset="0"/>
                <a:cs typeface="Times New Roman" panose="02020603050405020304" pitchFamily="18" charset="0"/>
              </a:rPr>
              <a:t>: </a:t>
            </a:r>
          </a:p>
          <a:p>
            <a:pPr lvl="1" algn="just"/>
            <a:r>
              <a:rPr lang="en-US" dirty="0">
                <a:latin typeface="Times New Roman" panose="02020603050405020304" pitchFamily="18" charset="0"/>
                <a:cs typeface="Times New Roman" panose="02020603050405020304" pitchFamily="18" charset="0"/>
              </a:rPr>
              <a:t>Identifying the requirements of the institution.</a:t>
            </a:r>
          </a:p>
          <a:p>
            <a:pPr lvl="1"/>
            <a:r>
              <a:rPr lang="en-US" dirty="0">
                <a:latin typeface="Times New Roman" panose="02020603050405020304" pitchFamily="18" charset="0"/>
                <a:cs typeface="Times New Roman" panose="02020603050405020304" pitchFamily="18" charset="0"/>
              </a:rPr>
              <a:t>Details about the Faculty, Courses, Classes, Classrooms, Labs.</a:t>
            </a:r>
          </a:p>
          <a:p>
            <a:pPr lvl="1" algn="just"/>
            <a:r>
              <a:rPr lang="en-US" dirty="0">
                <a:latin typeface="Times New Roman" panose="02020603050405020304" pitchFamily="18" charset="0"/>
                <a:cs typeface="Times New Roman" panose="02020603050405020304" pitchFamily="18" charset="0"/>
              </a:rPr>
              <a:t>Customization of timetable as per the requirements. </a:t>
            </a:r>
          </a:p>
          <a:p>
            <a:endParaRPr lang="en-IN"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5B431902-F7F1-B6CA-C2B3-0EFECA70F7EC}"/>
              </a:ext>
            </a:extLst>
          </p:cNvPr>
          <p:cNvSpPr>
            <a:spLocks noGrp="1"/>
          </p:cNvSpPr>
          <p:nvPr>
            <p:ph type="sldNum" sz="quarter" idx="12"/>
          </p:nvPr>
        </p:nvSpPr>
        <p:spPr>
          <a:xfrm>
            <a:off x="9092921" y="6346302"/>
            <a:ext cx="2743200" cy="365125"/>
          </a:xfrm>
        </p:spPr>
        <p:txBody>
          <a:bodyPr/>
          <a:lstStyle/>
          <a:p>
            <a:fld id="{D19EB42E-18EF-4ADA-8D91-F15AD1AFC8DD}" type="slidenum">
              <a:rPr lang="en-IN" smtClean="0"/>
              <a:t>6</a:t>
            </a:fld>
            <a:endParaRPr lang="en-IN" dirty="0"/>
          </a:p>
        </p:txBody>
      </p:sp>
    </p:spTree>
    <p:extLst>
      <p:ext uri="{BB962C8B-B14F-4D97-AF65-F5344CB8AC3E}">
        <p14:creationId xmlns:p14="http://schemas.microsoft.com/office/powerpoint/2010/main" val="26351377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74C53-81B2-0DAA-04E3-2105D18A2EB2}"/>
              </a:ext>
            </a:extLst>
          </p:cNvPr>
          <p:cNvSpPr>
            <a:spLocks noGrp="1"/>
          </p:cNvSpPr>
          <p:nvPr>
            <p:ph type="title"/>
          </p:nvPr>
        </p:nvSpPr>
        <p:spPr/>
        <p:txBody>
          <a:bodyPr/>
          <a:lstStyle/>
          <a:p>
            <a:pPr marL="571500" indent="-571500">
              <a:buFont typeface="Wingdings" panose="05000000000000000000" pitchFamily="2" charset="2"/>
              <a:buChar char="Ø"/>
            </a:pPr>
            <a:r>
              <a:rPr lang="en-IN" dirty="0">
                <a:solidFill>
                  <a:schemeClr val="accent1">
                    <a:lumMod val="75000"/>
                  </a:schemeClr>
                </a:solidFill>
                <a:latin typeface="Times New Roman" panose="02020603050405020304" pitchFamily="18" charset="0"/>
                <a:cs typeface="Times New Roman" panose="02020603050405020304" pitchFamily="18" charset="0"/>
              </a:rPr>
              <a:t>Literature Review</a:t>
            </a:r>
            <a:endParaRPr lang="en-IN" dirty="0"/>
          </a:p>
        </p:txBody>
      </p:sp>
      <p:sp>
        <p:nvSpPr>
          <p:cNvPr id="3" name="Content Placeholder 2">
            <a:extLst>
              <a:ext uri="{FF2B5EF4-FFF2-40B4-BE49-F238E27FC236}">
                <a16:creationId xmlns:a16="http://schemas.microsoft.com/office/drawing/2014/main" id="{5A12EE04-882A-C36D-7D3D-FD2F69333A15}"/>
              </a:ext>
            </a:extLst>
          </p:cNvPr>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Timetable scheduling is an NP-hard problem, as it involves a high level of computational complexity, and finding an exact solution is often infeasible within a reasonable time for large instances.</a:t>
            </a:r>
          </a:p>
          <a:p>
            <a:pPr algn="just"/>
            <a:r>
              <a:rPr lang="en-US" sz="2400" dirty="0">
                <a:latin typeface="Times New Roman" panose="02020603050405020304" pitchFamily="18" charset="0"/>
                <a:cs typeface="Times New Roman" panose="02020603050405020304" pitchFamily="18" charset="0"/>
              </a:rPr>
              <a:t>Genetic Algorithms have gained popularity due to their effectiveness in solving NP-hard optimization problems like timetabling. </a:t>
            </a:r>
          </a:p>
          <a:p>
            <a:pPr algn="just"/>
            <a:r>
              <a:rPr lang="en-US" sz="2400" dirty="0">
                <a:latin typeface="Times New Roman" panose="02020603050405020304" pitchFamily="18" charset="0"/>
                <a:cs typeface="Times New Roman" panose="02020603050405020304" pitchFamily="18" charset="0"/>
              </a:rPr>
              <a:t> As a result, extensive research has been conducted on applying optimization techniques to address this challenge. </a:t>
            </a:r>
          </a:p>
          <a:p>
            <a:pPr algn="just"/>
            <a:r>
              <a:rPr lang="en-US" sz="2400" dirty="0">
                <a:latin typeface="Times New Roman" panose="02020603050405020304" pitchFamily="18" charset="0"/>
                <a:cs typeface="Times New Roman" panose="02020603050405020304" pitchFamily="18" charset="0"/>
              </a:rPr>
              <a:t>This literature review explores various existing approaches to automated timetable generation, with a particular focus on Genetic Algorithms.</a:t>
            </a:r>
          </a:p>
          <a:p>
            <a:endParaRPr lang="en-IN" sz="2400" dirty="0"/>
          </a:p>
        </p:txBody>
      </p:sp>
      <p:sp>
        <p:nvSpPr>
          <p:cNvPr id="4" name="Slide Number Placeholder 3">
            <a:extLst>
              <a:ext uri="{FF2B5EF4-FFF2-40B4-BE49-F238E27FC236}">
                <a16:creationId xmlns:a16="http://schemas.microsoft.com/office/drawing/2014/main" id="{29273733-4A8E-D9C5-E0C5-E8797B7BB5BC}"/>
              </a:ext>
            </a:extLst>
          </p:cNvPr>
          <p:cNvSpPr>
            <a:spLocks noGrp="1"/>
          </p:cNvSpPr>
          <p:nvPr>
            <p:ph type="sldNum" sz="quarter" idx="12"/>
          </p:nvPr>
        </p:nvSpPr>
        <p:spPr>
          <a:xfrm>
            <a:off x="9143162" y="6310312"/>
            <a:ext cx="2743200" cy="365125"/>
          </a:xfrm>
        </p:spPr>
        <p:txBody>
          <a:bodyPr/>
          <a:lstStyle/>
          <a:p>
            <a:fld id="{D19EB42E-18EF-4ADA-8D91-F15AD1AFC8DD}" type="slidenum">
              <a:rPr lang="en-IN" smtClean="0"/>
              <a:t>7</a:t>
            </a:fld>
            <a:endParaRPr lang="en-IN" dirty="0"/>
          </a:p>
        </p:txBody>
      </p:sp>
    </p:spTree>
    <p:extLst>
      <p:ext uri="{BB962C8B-B14F-4D97-AF65-F5344CB8AC3E}">
        <p14:creationId xmlns:p14="http://schemas.microsoft.com/office/powerpoint/2010/main" val="3036731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CC1A1F1-0F07-01B7-3402-1299C9D274CE}"/>
              </a:ext>
            </a:extLst>
          </p:cNvPr>
          <p:cNvSpPr>
            <a:spLocks noGrp="1"/>
          </p:cNvSpPr>
          <p:nvPr>
            <p:ph type="sldNum" sz="quarter" idx="12"/>
          </p:nvPr>
        </p:nvSpPr>
        <p:spPr>
          <a:xfrm>
            <a:off x="9153211" y="6310312"/>
            <a:ext cx="2743200" cy="365125"/>
          </a:xfrm>
        </p:spPr>
        <p:txBody>
          <a:bodyPr/>
          <a:lstStyle/>
          <a:p>
            <a:fld id="{D19EB42E-18EF-4ADA-8D91-F15AD1AFC8DD}" type="slidenum">
              <a:rPr lang="en-IN" smtClean="0"/>
              <a:t>8</a:t>
            </a:fld>
            <a:endParaRPr lang="en-IN"/>
          </a:p>
        </p:txBody>
      </p:sp>
      <p:graphicFrame>
        <p:nvGraphicFramePr>
          <p:cNvPr id="6" name="Content Placeholder 3">
            <a:extLst>
              <a:ext uri="{FF2B5EF4-FFF2-40B4-BE49-F238E27FC236}">
                <a16:creationId xmlns:a16="http://schemas.microsoft.com/office/drawing/2014/main" id="{AF2D520E-D070-AB67-6445-98B3CA56EAC5}"/>
              </a:ext>
            </a:extLst>
          </p:cNvPr>
          <p:cNvGraphicFramePr>
            <a:graphicFrameLocks/>
          </p:cNvGraphicFramePr>
          <p:nvPr>
            <p:extLst>
              <p:ext uri="{D42A27DB-BD31-4B8C-83A1-F6EECF244321}">
                <p14:modId xmlns:p14="http://schemas.microsoft.com/office/powerpoint/2010/main" val="3766354642"/>
              </p:ext>
            </p:extLst>
          </p:nvPr>
        </p:nvGraphicFramePr>
        <p:xfrm>
          <a:off x="838200" y="1434937"/>
          <a:ext cx="10515600" cy="5154630"/>
        </p:xfrm>
        <a:graphic>
          <a:graphicData uri="http://schemas.openxmlformats.org/drawingml/2006/table">
            <a:tbl>
              <a:tblPr firstRow="1" firstCol="1" lastRow="1" lastCol="1" bandRow="1">
                <a:tableStyleId>{2D5ABB26-0587-4C30-8999-92F81FD0307C}</a:tableStyleId>
              </a:tblPr>
              <a:tblGrid>
                <a:gridCol w="2103120">
                  <a:extLst>
                    <a:ext uri="{9D8B030D-6E8A-4147-A177-3AD203B41FA5}">
                      <a16:colId xmlns:a16="http://schemas.microsoft.com/office/drawing/2014/main" val="3882268063"/>
                    </a:ext>
                  </a:extLst>
                </a:gridCol>
                <a:gridCol w="2103120">
                  <a:extLst>
                    <a:ext uri="{9D8B030D-6E8A-4147-A177-3AD203B41FA5}">
                      <a16:colId xmlns:a16="http://schemas.microsoft.com/office/drawing/2014/main" val="318093879"/>
                    </a:ext>
                  </a:extLst>
                </a:gridCol>
                <a:gridCol w="2103120">
                  <a:extLst>
                    <a:ext uri="{9D8B030D-6E8A-4147-A177-3AD203B41FA5}">
                      <a16:colId xmlns:a16="http://schemas.microsoft.com/office/drawing/2014/main" val="2509785949"/>
                    </a:ext>
                  </a:extLst>
                </a:gridCol>
                <a:gridCol w="2103120">
                  <a:extLst>
                    <a:ext uri="{9D8B030D-6E8A-4147-A177-3AD203B41FA5}">
                      <a16:colId xmlns:a16="http://schemas.microsoft.com/office/drawing/2014/main" val="671650390"/>
                    </a:ext>
                  </a:extLst>
                </a:gridCol>
                <a:gridCol w="2103120">
                  <a:extLst>
                    <a:ext uri="{9D8B030D-6E8A-4147-A177-3AD203B41FA5}">
                      <a16:colId xmlns:a16="http://schemas.microsoft.com/office/drawing/2014/main" val="2832146980"/>
                    </a:ext>
                  </a:extLst>
                </a:gridCol>
              </a:tblGrid>
              <a:tr h="762526">
                <a:tc>
                  <a:txBody>
                    <a:bodyPr/>
                    <a:lstStyle/>
                    <a:p>
                      <a:pPr algn="ctr"/>
                      <a:r>
                        <a:rPr lang="en-IN" sz="2400" dirty="0">
                          <a:latin typeface="Times New Roman" panose="02020603050405020304" pitchFamily="18" charset="0"/>
                          <a:cs typeface="Times New Roman" panose="02020603050405020304" pitchFamily="18" charset="0"/>
                        </a:rPr>
                        <a:t>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a:latin typeface="Times New Roman" panose="02020603050405020304" pitchFamily="18" charset="0"/>
                          <a:cs typeface="Times New Roman" panose="02020603050405020304" pitchFamily="18" charset="0"/>
                        </a:rPr>
                        <a:t>Author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a:latin typeface="Times New Roman" panose="02020603050405020304" pitchFamily="18" charset="0"/>
                          <a:cs typeface="Times New Roman" panose="02020603050405020304" pitchFamily="18" charset="0"/>
                        </a:rPr>
                        <a:t>Methodology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a:latin typeface="Times New Roman" panose="02020603050405020304" pitchFamily="18" charset="0"/>
                          <a:cs typeface="Times New Roman" panose="02020603050405020304" pitchFamily="18" charset="0"/>
                        </a:rPr>
                        <a:t>Advantages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a:latin typeface="Times New Roman" panose="02020603050405020304" pitchFamily="18" charset="0"/>
                          <a:cs typeface="Times New Roman" panose="02020603050405020304" pitchFamily="18" charset="0"/>
                        </a:rPr>
                        <a:t>Future Work/ Limitations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78151471"/>
                  </a:ext>
                </a:extLst>
              </a:tr>
              <a:tr h="2165835">
                <a:tc>
                  <a:txBody>
                    <a:bodyPr/>
                    <a:lstStyle/>
                    <a:p>
                      <a:pPr algn="l">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A utilization-based genetic algorithm for solving the university timetabling problem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uga</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800" kern="1200" dirty="0">
                          <a:solidFill>
                            <a:schemeClr val="tx1"/>
                          </a:solidFill>
                          <a:effectLst/>
                          <a:latin typeface="Times New Roman" panose="02020603050405020304" pitchFamily="18" charset="0"/>
                          <a:ea typeface="+mn-ea"/>
                          <a:cs typeface="Times New Roman" panose="02020603050405020304" pitchFamily="18" charset="0"/>
                        </a:rPr>
                        <a:t>Esraa A. Abdelhalim, Ghada A. El Khayat</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7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Utilization-based genetic algorithm: focused on optimizing space utilization alongside satisfying scheduling constraints.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800" dirty="0">
                          <a:effectLst/>
                          <a:latin typeface="Times New Roman" panose="02020603050405020304" pitchFamily="18" charset="0"/>
                          <a:ea typeface="Calibri" panose="020F0502020204030204" pitchFamily="34" charset="0"/>
                        </a:rPr>
                        <a:t>Improved space utilization, reduced hours, real data is being used.</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800" dirty="0">
                          <a:effectLst/>
                          <a:latin typeface="Times New Roman" panose="02020603050405020304" pitchFamily="18" charset="0"/>
                          <a:ea typeface="Calibri" panose="020F0502020204030204" pitchFamily="34" charset="0"/>
                        </a:rPr>
                        <a:t>lacks real-time adaptability.</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4385574"/>
                  </a:ext>
                </a:extLst>
              </a:tr>
              <a:tr h="2165835">
                <a:tc>
                  <a:txBody>
                    <a:bodyPr/>
                    <a:lstStyle/>
                    <a:p>
                      <a:pPr algn="l">
                        <a:lnSpc>
                          <a:spcPct val="107000"/>
                        </a:lnSpc>
                        <a:spcAft>
                          <a:spcPts val="800"/>
                        </a:spcAft>
                        <a:buNone/>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A genetic algorithm to solve the timetable problem.</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800" kern="1200" dirty="0">
                          <a:solidFill>
                            <a:schemeClr val="tx1"/>
                          </a:solidFill>
                          <a:effectLst/>
                          <a:latin typeface="Times New Roman" panose="02020603050405020304" pitchFamily="18" charset="0"/>
                          <a:ea typeface="+mn-ea"/>
                          <a:cs typeface="Times New Roman" panose="02020603050405020304" pitchFamily="18" charset="0"/>
                        </a:rPr>
                        <a:t>Alberto </a:t>
                      </a:r>
                      <a:r>
                        <a:rPr lang="en-IN" sz="1800" kern="1200" dirty="0" err="1">
                          <a:solidFill>
                            <a:schemeClr val="tx1"/>
                          </a:solidFill>
                          <a:effectLst/>
                          <a:latin typeface="Times New Roman" panose="02020603050405020304" pitchFamily="18" charset="0"/>
                          <a:ea typeface="+mn-ea"/>
                          <a:cs typeface="Times New Roman" panose="02020603050405020304" pitchFamily="18" charset="0"/>
                        </a:rPr>
                        <a:t>Colorni</a:t>
                      </a:r>
                      <a:r>
                        <a:rPr lang="en-IN" sz="1800" kern="1200" dirty="0">
                          <a:solidFill>
                            <a:schemeClr val="tx1"/>
                          </a:solidFill>
                          <a:effectLst/>
                          <a:latin typeface="Times New Roman" panose="02020603050405020304" pitchFamily="18" charset="0"/>
                          <a:ea typeface="+mn-ea"/>
                          <a:cs typeface="Times New Roman" panose="02020603050405020304" pitchFamily="18" charset="0"/>
                        </a:rPr>
                        <a:t>, Marco Dorigo, Vittorio </a:t>
                      </a:r>
                      <a:r>
                        <a:rPr lang="en-IN" sz="1800" kern="1200" dirty="0" err="1">
                          <a:solidFill>
                            <a:schemeClr val="tx1"/>
                          </a:solidFill>
                          <a:effectLst/>
                          <a:latin typeface="Times New Roman" panose="02020603050405020304" pitchFamily="18" charset="0"/>
                          <a:ea typeface="+mn-ea"/>
                          <a:cs typeface="Times New Roman" panose="02020603050405020304" pitchFamily="18" charset="0"/>
                        </a:rPr>
                        <a:t>Maniezzo</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7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Genetic Algorithm with customized genetic operators like row-based crossover, order-k mutation, and a filter.</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800" kern="1200" dirty="0">
                          <a:solidFill>
                            <a:schemeClr val="tx1"/>
                          </a:solidFill>
                          <a:effectLst/>
                          <a:latin typeface="Times New Roman" panose="02020603050405020304" pitchFamily="18" charset="0"/>
                          <a:ea typeface="+mn-ea"/>
                          <a:cs typeface="Times New Roman" panose="02020603050405020304" pitchFamily="18" charset="0"/>
                        </a:rPr>
                        <a:t>Reduced time vs. manual &amp; simulated annealing.</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800" kern="1200" dirty="0">
                          <a:solidFill>
                            <a:schemeClr val="tx1"/>
                          </a:solidFill>
                          <a:effectLst/>
                          <a:latin typeface="Times New Roman" panose="02020603050405020304" pitchFamily="18" charset="0"/>
                          <a:ea typeface="+mn-ea"/>
                          <a:cs typeface="Times New Roman" panose="02020603050405020304" pitchFamily="18" charset="0"/>
                        </a:rPr>
                        <a:t>Scalability issues, no dynamic adjustment </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can be made.</a:t>
                      </a:r>
                      <a:r>
                        <a:rPr lang="en-IN" sz="1800" kern="1200" dirty="0">
                          <a:solidFill>
                            <a:schemeClr val="tx1"/>
                          </a:solidFill>
                          <a:effectLst/>
                          <a:latin typeface="Times New Roman" panose="02020603050405020304" pitchFamily="18" charset="0"/>
                          <a:ea typeface="+mn-ea"/>
                          <a:cs typeface="Times New Roman" panose="02020603050405020304" pitchFamily="18" charset="0"/>
                        </a:rPr>
                        <a:t> Lacks faculty preferences.</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5317172"/>
                  </a:ext>
                </a:extLst>
              </a:tr>
            </a:tbl>
          </a:graphicData>
        </a:graphic>
      </p:graphicFrame>
      <p:sp>
        <p:nvSpPr>
          <p:cNvPr id="7" name="Title 1">
            <a:extLst>
              <a:ext uri="{FF2B5EF4-FFF2-40B4-BE49-F238E27FC236}">
                <a16:creationId xmlns:a16="http://schemas.microsoft.com/office/drawing/2014/main" id="{2A74CD04-B39C-6FCC-B0E4-149806738F43}"/>
              </a:ext>
            </a:extLst>
          </p:cNvPr>
          <p:cNvSpPr>
            <a:spLocks noGrp="1"/>
          </p:cNvSpPr>
          <p:nvPr>
            <p:ph type="title"/>
          </p:nvPr>
        </p:nvSpPr>
        <p:spPr>
          <a:xfrm>
            <a:off x="838200" y="365125"/>
            <a:ext cx="10515600" cy="1325563"/>
          </a:xfrm>
        </p:spPr>
        <p:txBody>
          <a:bodyPr/>
          <a:lstStyle/>
          <a:p>
            <a:pPr marL="571500" indent="-571500">
              <a:buFont typeface="Wingdings" panose="05000000000000000000" pitchFamily="2" charset="2"/>
              <a:buChar char="Ø"/>
            </a:pPr>
            <a:r>
              <a:rPr lang="en-IN" dirty="0">
                <a:solidFill>
                  <a:schemeClr val="accent1">
                    <a:lumMod val="75000"/>
                  </a:schemeClr>
                </a:solidFill>
                <a:latin typeface="Times New Roman" panose="02020603050405020304" pitchFamily="18" charset="0"/>
                <a:cs typeface="Times New Roman" panose="02020603050405020304" pitchFamily="18" charset="0"/>
              </a:rPr>
              <a:t>Literature Review</a:t>
            </a:r>
            <a:endParaRPr lang="en-IN" dirty="0"/>
          </a:p>
        </p:txBody>
      </p:sp>
    </p:spTree>
    <p:extLst>
      <p:ext uri="{BB962C8B-B14F-4D97-AF65-F5344CB8AC3E}">
        <p14:creationId xmlns:p14="http://schemas.microsoft.com/office/powerpoint/2010/main" val="704536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30C36-3F03-C490-748A-BF81E6DABAE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D712F72-EB47-2CAA-3CE0-28B4C45DAA34}"/>
              </a:ext>
            </a:extLst>
          </p:cNvPr>
          <p:cNvSpPr>
            <a:spLocks noGrp="1"/>
          </p:cNvSpPr>
          <p:nvPr>
            <p:ph type="sldNum" sz="quarter" idx="12"/>
          </p:nvPr>
        </p:nvSpPr>
        <p:spPr>
          <a:xfrm>
            <a:off x="9113018" y="6349186"/>
            <a:ext cx="2743200" cy="365125"/>
          </a:xfrm>
        </p:spPr>
        <p:txBody>
          <a:bodyPr/>
          <a:lstStyle/>
          <a:p>
            <a:fld id="{D19EB42E-18EF-4ADA-8D91-F15AD1AFC8DD}" type="slidenum">
              <a:rPr lang="en-IN" smtClean="0"/>
              <a:t>9</a:t>
            </a:fld>
            <a:endParaRPr lang="en-IN" dirty="0"/>
          </a:p>
        </p:txBody>
      </p:sp>
      <p:sp>
        <p:nvSpPr>
          <p:cNvPr id="7" name="Title 1">
            <a:extLst>
              <a:ext uri="{FF2B5EF4-FFF2-40B4-BE49-F238E27FC236}">
                <a16:creationId xmlns:a16="http://schemas.microsoft.com/office/drawing/2014/main" id="{FAC6FFAE-9818-498F-07C2-3CB28F4AC370}"/>
              </a:ext>
            </a:extLst>
          </p:cNvPr>
          <p:cNvSpPr>
            <a:spLocks noGrp="1"/>
          </p:cNvSpPr>
          <p:nvPr>
            <p:ph type="title"/>
          </p:nvPr>
        </p:nvSpPr>
        <p:spPr>
          <a:xfrm>
            <a:off x="838200" y="365125"/>
            <a:ext cx="10515600" cy="1325563"/>
          </a:xfrm>
        </p:spPr>
        <p:txBody>
          <a:bodyPr/>
          <a:lstStyle/>
          <a:p>
            <a:pPr marL="571500" indent="-571500">
              <a:buFont typeface="Wingdings" panose="05000000000000000000" pitchFamily="2" charset="2"/>
              <a:buChar char="Ø"/>
            </a:pPr>
            <a:r>
              <a:rPr lang="en-IN" dirty="0">
                <a:solidFill>
                  <a:schemeClr val="accent1">
                    <a:lumMod val="75000"/>
                  </a:schemeClr>
                </a:solidFill>
                <a:latin typeface="Times New Roman" panose="02020603050405020304" pitchFamily="18" charset="0"/>
                <a:cs typeface="Times New Roman" panose="02020603050405020304" pitchFamily="18" charset="0"/>
              </a:rPr>
              <a:t>Literature Review</a:t>
            </a:r>
            <a:endParaRPr lang="en-IN" dirty="0"/>
          </a:p>
        </p:txBody>
      </p:sp>
      <p:graphicFrame>
        <p:nvGraphicFramePr>
          <p:cNvPr id="2" name="Content Placeholder 3">
            <a:extLst>
              <a:ext uri="{FF2B5EF4-FFF2-40B4-BE49-F238E27FC236}">
                <a16:creationId xmlns:a16="http://schemas.microsoft.com/office/drawing/2014/main" id="{01CFBBDF-4666-89C0-4A47-2E47241EB2FE}"/>
              </a:ext>
            </a:extLst>
          </p:cNvPr>
          <p:cNvGraphicFramePr>
            <a:graphicFrameLocks noGrp="1"/>
          </p:cNvGraphicFramePr>
          <p:nvPr>
            <p:ph idx="1"/>
            <p:extLst>
              <p:ext uri="{D42A27DB-BD31-4B8C-83A1-F6EECF244321}">
                <p14:modId xmlns:p14="http://schemas.microsoft.com/office/powerpoint/2010/main" val="3493708880"/>
              </p:ext>
            </p:extLst>
          </p:nvPr>
        </p:nvGraphicFramePr>
        <p:xfrm>
          <a:off x="838201" y="1434942"/>
          <a:ext cx="10265230" cy="5279370"/>
        </p:xfrm>
        <a:graphic>
          <a:graphicData uri="http://schemas.openxmlformats.org/drawingml/2006/table">
            <a:tbl>
              <a:tblPr firstRow="1" firstCol="1" lastRow="1" lastCol="1" bandRow="1">
                <a:tableStyleId>{2D5ABB26-0587-4C30-8999-92F81FD0307C}</a:tableStyleId>
              </a:tblPr>
              <a:tblGrid>
                <a:gridCol w="2053046">
                  <a:extLst>
                    <a:ext uri="{9D8B030D-6E8A-4147-A177-3AD203B41FA5}">
                      <a16:colId xmlns:a16="http://schemas.microsoft.com/office/drawing/2014/main" val="3882268063"/>
                    </a:ext>
                  </a:extLst>
                </a:gridCol>
                <a:gridCol w="2053046">
                  <a:extLst>
                    <a:ext uri="{9D8B030D-6E8A-4147-A177-3AD203B41FA5}">
                      <a16:colId xmlns:a16="http://schemas.microsoft.com/office/drawing/2014/main" val="318093879"/>
                    </a:ext>
                  </a:extLst>
                </a:gridCol>
                <a:gridCol w="2053046">
                  <a:extLst>
                    <a:ext uri="{9D8B030D-6E8A-4147-A177-3AD203B41FA5}">
                      <a16:colId xmlns:a16="http://schemas.microsoft.com/office/drawing/2014/main" val="2509785949"/>
                    </a:ext>
                  </a:extLst>
                </a:gridCol>
                <a:gridCol w="2053046">
                  <a:extLst>
                    <a:ext uri="{9D8B030D-6E8A-4147-A177-3AD203B41FA5}">
                      <a16:colId xmlns:a16="http://schemas.microsoft.com/office/drawing/2014/main" val="671650390"/>
                    </a:ext>
                  </a:extLst>
                </a:gridCol>
                <a:gridCol w="2053046">
                  <a:extLst>
                    <a:ext uri="{9D8B030D-6E8A-4147-A177-3AD203B41FA5}">
                      <a16:colId xmlns:a16="http://schemas.microsoft.com/office/drawing/2014/main" val="2832146980"/>
                    </a:ext>
                  </a:extLst>
                </a:gridCol>
              </a:tblGrid>
              <a:tr h="852438">
                <a:tc>
                  <a:txBody>
                    <a:bodyPr/>
                    <a:lstStyle/>
                    <a:p>
                      <a:pPr algn="ctr"/>
                      <a:r>
                        <a:rPr lang="en-IN" sz="2400" dirty="0">
                          <a:latin typeface="Times New Roman" panose="02020603050405020304" pitchFamily="18" charset="0"/>
                          <a:cs typeface="Times New Roman" panose="02020603050405020304" pitchFamily="18" charset="0"/>
                        </a:rPr>
                        <a:t>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a:latin typeface="Times New Roman" panose="02020603050405020304" pitchFamily="18" charset="0"/>
                          <a:cs typeface="Times New Roman" panose="02020603050405020304" pitchFamily="18" charset="0"/>
                        </a:rPr>
                        <a:t>Author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a:latin typeface="Times New Roman" panose="02020603050405020304" pitchFamily="18" charset="0"/>
                          <a:cs typeface="Times New Roman" panose="02020603050405020304" pitchFamily="18" charset="0"/>
                        </a:rPr>
                        <a:t>Methodology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a:latin typeface="Times New Roman" panose="02020603050405020304" pitchFamily="18" charset="0"/>
                          <a:cs typeface="Times New Roman" panose="02020603050405020304" pitchFamily="18" charset="0"/>
                        </a:rPr>
                        <a:t>Advantages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a:latin typeface="Times New Roman" panose="02020603050405020304" pitchFamily="18" charset="0"/>
                          <a:cs typeface="Times New Roman" panose="02020603050405020304" pitchFamily="18" charset="0"/>
                        </a:rPr>
                        <a:t>Future Work/ Limitations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78151471"/>
                  </a:ext>
                </a:extLst>
              </a:tr>
              <a:tr h="2015309">
                <a:tc>
                  <a:txBody>
                    <a:bodyPr/>
                    <a:lstStyle/>
                    <a:p>
                      <a:pPr algn="l">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A novel genetic algorithm technique for solving university course timetabling problems.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Othman M. K.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Alsmadi</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S.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Za'er</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Dia I. Abu-Al-Nadi, Alia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Algsoon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7000"/>
                        </a:lnSpc>
                        <a:spcAft>
                          <a:spcPts val="800"/>
                        </a:spcAft>
                        <a:buNone/>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Genetic algorithm which involves rank based selection, with a generation limit of the fitness ≥ 0.99.</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Zero hard constraint violations, reduced overload.</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7000"/>
                        </a:lnSpc>
                        <a:spcAft>
                          <a:spcPts val="800"/>
                        </a:spcAft>
                        <a:buNone/>
                      </a:pPr>
                      <a:r>
                        <a:rPr lang="en-IN" sz="1800" dirty="0">
                          <a:effectLst/>
                          <a:latin typeface="Times New Roman" panose="02020603050405020304" pitchFamily="18" charset="0"/>
                          <a:ea typeface="Calibri" panose="020F0502020204030204" pitchFamily="34" charset="0"/>
                        </a:rPr>
                        <a:t>No real-time adaptability, lacks sensitivity to constraint weights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4385574"/>
                  </a:ext>
                </a:extLst>
              </a:tr>
              <a:tr h="2411623">
                <a:tc>
                  <a:txBody>
                    <a:bodyPr/>
                    <a:lstStyle/>
                    <a:p>
                      <a:pPr algn="l">
                        <a:lnSpc>
                          <a:spcPct val="107000"/>
                        </a:lnSpc>
                        <a:spcAft>
                          <a:spcPts val="800"/>
                        </a:spcAft>
                        <a:buNone/>
                      </a:pPr>
                      <a:r>
                        <a:rPr lang="en-IN" sz="1800" dirty="0">
                          <a:effectLst/>
                          <a:latin typeface="Times New Roman" panose="02020603050405020304" pitchFamily="18" charset="0"/>
                          <a:ea typeface="Calibri" panose="020F0502020204030204" pitchFamily="34" charset="0"/>
                        </a:rPr>
                        <a:t>Gradual Optimization of University Course Scheduling Problem Using Genetic Algorithm and Dynamic Programming.</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kern="1200" dirty="0">
                          <a:solidFill>
                            <a:schemeClr val="tx1"/>
                          </a:solidFill>
                          <a:effectLst/>
                          <a:latin typeface="Times New Roman" panose="02020603050405020304" pitchFamily="18" charset="0"/>
                          <a:ea typeface="+mn-ea"/>
                          <a:cs typeface="Times New Roman" panose="02020603050405020304" pitchFamily="18" charset="0"/>
                        </a:rPr>
                        <a:t>Xu Han, Dian Wang</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7000"/>
                        </a:lnSpc>
                        <a:spcAft>
                          <a:spcPts val="800"/>
                        </a:spcAft>
                        <a:buNone/>
                      </a:pPr>
                      <a:r>
                        <a:rPr lang="en-US" sz="1800" dirty="0">
                          <a:effectLst/>
                          <a:latin typeface="Times New Roman" panose="02020603050405020304" pitchFamily="18" charset="0"/>
                          <a:ea typeface="Calibri" panose="020F0502020204030204" pitchFamily="34" charset="0"/>
                        </a:rPr>
                        <a:t>Hybrid approach which is a combination of Dynamic Programming and Genetic algorithm.</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800" dirty="0">
                          <a:effectLst/>
                          <a:latin typeface="Times New Roman" panose="02020603050405020304" pitchFamily="18" charset="0"/>
                          <a:ea typeface="Calibri" panose="020F0502020204030204" pitchFamily="34" charset="0"/>
                        </a:rPr>
                        <a:t>Improved quality, reduced room use and outperformed PSO, ACO, PSM.</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800" dirty="0">
                          <a:effectLst/>
                          <a:latin typeface="Times New Roman" panose="02020603050405020304" pitchFamily="18" charset="0"/>
                          <a:ea typeface="Calibri" panose="020F0502020204030204" pitchFamily="34" charset="0"/>
                        </a:rPr>
                        <a:t>No cross-institution testing, lacks integration into university systems</a:t>
                      </a:r>
                      <a:r>
                        <a:rPr lang="en-IN" sz="1800" kern="1200" dirty="0">
                          <a:solidFill>
                            <a:schemeClr val="tx1"/>
                          </a:solidFill>
                          <a:effectLst/>
                          <a:latin typeface="Times New Roman" panose="02020603050405020304" pitchFamily="18" charset="0"/>
                          <a:ea typeface="+mn-ea"/>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5317172"/>
                  </a:ext>
                </a:extLst>
              </a:tr>
            </a:tbl>
          </a:graphicData>
        </a:graphic>
      </p:graphicFrame>
    </p:spTree>
    <p:extLst>
      <p:ext uri="{BB962C8B-B14F-4D97-AF65-F5344CB8AC3E}">
        <p14:creationId xmlns:p14="http://schemas.microsoft.com/office/powerpoint/2010/main" val="9312018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F5A65-7B48-2BB3-3D4E-7AA8291E545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499887D-6006-8F75-796C-62DBD4B00DFA}"/>
              </a:ext>
            </a:extLst>
          </p:cNvPr>
          <p:cNvSpPr>
            <a:spLocks noGrp="1"/>
          </p:cNvSpPr>
          <p:nvPr>
            <p:ph type="sldNum" sz="quarter" idx="12"/>
          </p:nvPr>
        </p:nvSpPr>
        <p:spPr>
          <a:xfrm>
            <a:off x="9102969" y="6310312"/>
            <a:ext cx="2743200" cy="365125"/>
          </a:xfrm>
        </p:spPr>
        <p:txBody>
          <a:bodyPr/>
          <a:lstStyle/>
          <a:p>
            <a:fld id="{D19EB42E-18EF-4ADA-8D91-F15AD1AFC8DD}" type="slidenum">
              <a:rPr lang="en-IN" smtClean="0"/>
              <a:t>10</a:t>
            </a:fld>
            <a:endParaRPr lang="en-IN"/>
          </a:p>
        </p:txBody>
      </p:sp>
      <p:sp>
        <p:nvSpPr>
          <p:cNvPr id="7" name="Title 1">
            <a:extLst>
              <a:ext uri="{FF2B5EF4-FFF2-40B4-BE49-F238E27FC236}">
                <a16:creationId xmlns:a16="http://schemas.microsoft.com/office/drawing/2014/main" id="{26F367B2-1B0E-602B-F87B-CE0818F3135F}"/>
              </a:ext>
            </a:extLst>
          </p:cNvPr>
          <p:cNvSpPr>
            <a:spLocks noGrp="1"/>
          </p:cNvSpPr>
          <p:nvPr>
            <p:ph type="title"/>
          </p:nvPr>
        </p:nvSpPr>
        <p:spPr>
          <a:xfrm>
            <a:off x="838200" y="365125"/>
            <a:ext cx="10515600" cy="1325563"/>
          </a:xfrm>
        </p:spPr>
        <p:txBody>
          <a:bodyPr/>
          <a:lstStyle/>
          <a:p>
            <a:pPr marL="571500" indent="-571500">
              <a:buFont typeface="Wingdings" panose="05000000000000000000" pitchFamily="2" charset="2"/>
              <a:buChar char="Ø"/>
            </a:pPr>
            <a:r>
              <a:rPr lang="en-IN" dirty="0">
                <a:solidFill>
                  <a:schemeClr val="accent1">
                    <a:lumMod val="75000"/>
                  </a:schemeClr>
                </a:solidFill>
                <a:latin typeface="Times New Roman" panose="02020603050405020304" pitchFamily="18" charset="0"/>
                <a:cs typeface="Times New Roman" panose="02020603050405020304" pitchFamily="18" charset="0"/>
              </a:rPr>
              <a:t>Literature Review</a:t>
            </a:r>
            <a:endParaRPr lang="en-IN" dirty="0"/>
          </a:p>
        </p:txBody>
      </p:sp>
      <p:graphicFrame>
        <p:nvGraphicFramePr>
          <p:cNvPr id="6" name="Content Placeholder 3">
            <a:extLst>
              <a:ext uri="{FF2B5EF4-FFF2-40B4-BE49-F238E27FC236}">
                <a16:creationId xmlns:a16="http://schemas.microsoft.com/office/drawing/2014/main" id="{C9D8CE98-AB7A-F9D6-09D7-75CEF807CB9B}"/>
              </a:ext>
            </a:extLst>
          </p:cNvPr>
          <p:cNvGraphicFramePr>
            <a:graphicFrameLocks/>
          </p:cNvGraphicFramePr>
          <p:nvPr>
            <p:extLst>
              <p:ext uri="{D42A27DB-BD31-4B8C-83A1-F6EECF244321}">
                <p14:modId xmlns:p14="http://schemas.microsoft.com/office/powerpoint/2010/main" val="435849308"/>
              </p:ext>
            </p:extLst>
          </p:nvPr>
        </p:nvGraphicFramePr>
        <p:xfrm>
          <a:off x="838200" y="1547230"/>
          <a:ext cx="10515600" cy="4741421"/>
        </p:xfrm>
        <a:graphic>
          <a:graphicData uri="http://schemas.openxmlformats.org/drawingml/2006/table">
            <a:tbl>
              <a:tblPr firstRow="1" firstCol="1" lastRow="1" lastCol="1" bandRow="1">
                <a:tableStyleId>{2D5ABB26-0587-4C30-8999-92F81FD0307C}</a:tableStyleId>
              </a:tblPr>
              <a:tblGrid>
                <a:gridCol w="2103120">
                  <a:extLst>
                    <a:ext uri="{9D8B030D-6E8A-4147-A177-3AD203B41FA5}">
                      <a16:colId xmlns:a16="http://schemas.microsoft.com/office/drawing/2014/main" val="3882268063"/>
                    </a:ext>
                  </a:extLst>
                </a:gridCol>
                <a:gridCol w="2103120">
                  <a:extLst>
                    <a:ext uri="{9D8B030D-6E8A-4147-A177-3AD203B41FA5}">
                      <a16:colId xmlns:a16="http://schemas.microsoft.com/office/drawing/2014/main" val="318093879"/>
                    </a:ext>
                  </a:extLst>
                </a:gridCol>
                <a:gridCol w="2103120">
                  <a:extLst>
                    <a:ext uri="{9D8B030D-6E8A-4147-A177-3AD203B41FA5}">
                      <a16:colId xmlns:a16="http://schemas.microsoft.com/office/drawing/2014/main" val="2509785949"/>
                    </a:ext>
                  </a:extLst>
                </a:gridCol>
                <a:gridCol w="2103120">
                  <a:extLst>
                    <a:ext uri="{9D8B030D-6E8A-4147-A177-3AD203B41FA5}">
                      <a16:colId xmlns:a16="http://schemas.microsoft.com/office/drawing/2014/main" val="671650390"/>
                    </a:ext>
                  </a:extLst>
                </a:gridCol>
                <a:gridCol w="2103120">
                  <a:extLst>
                    <a:ext uri="{9D8B030D-6E8A-4147-A177-3AD203B41FA5}">
                      <a16:colId xmlns:a16="http://schemas.microsoft.com/office/drawing/2014/main" val="2832146980"/>
                    </a:ext>
                  </a:extLst>
                </a:gridCol>
              </a:tblGrid>
              <a:tr h="910942">
                <a:tc>
                  <a:txBody>
                    <a:bodyPr/>
                    <a:lstStyle/>
                    <a:p>
                      <a:pPr algn="ctr"/>
                      <a:r>
                        <a:rPr lang="en-IN" sz="2400" dirty="0">
                          <a:latin typeface="Times New Roman" panose="02020603050405020304" pitchFamily="18" charset="0"/>
                          <a:cs typeface="Times New Roman" panose="02020603050405020304" pitchFamily="18" charset="0"/>
                        </a:rPr>
                        <a:t>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a:latin typeface="Times New Roman" panose="02020603050405020304" pitchFamily="18" charset="0"/>
                          <a:cs typeface="Times New Roman" panose="02020603050405020304" pitchFamily="18" charset="0"/>
                        </a:rPr>
                        <a:t>Author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a:latin typeface="Times New Roman" panose="02020603050405020304" pitchFamily="18" charset="0"/>
                          <a:cs typeface="Times New Roman" panose="02020603050405020304" pitchFamily="18" charset="0"/>
                        </a:rPr>
                        <a:t>Methodology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a:latin typeface="Times New Roman" panose="02020603050405020304" pitchFamily="18" charset="0"/>
                          <a:cs typeface="Times New Roman" panose="02020603050405020304" pitchFamily="18" charset="0"/>
                        </a:rPr>
                        <a:t>Advantages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a:latin typeface="Times New Roman" panose="02020603050405020304" pitchFamily="18" charset="0"/>
                          <a:cs typeface="Times New Roman" panose="02020603050405020304" pitchFamily="18" charset="0"/>
                        </a:rPr>
                        <a:t>Future Work/ Limitations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78151471"/>
                  </a:ext>
                </a:extLst>
              </a:tr>
              <a:tr h="1664644">
                <a:tc>
                  <a:txBody>
                    <a:bodyPr/>
                    <a:lstStyle/>
                    <a:p>
                      <a:pPr algn="l">
                        <a:lnSpc>
                          <a:spcPct val="107000"/>
                        </a:lnSpc>
                        <a:spcAft>
                          <a:spcPts val="800"/>
                        </a:spcAft>
                        <a:buNone/>
                      </a:pPr>
                      <a:r>
                        <a:rPr lang="en-IN" sz="1800" dirty="0">
                          <a:effectLst/>
                          <a:latin typeface="Times New Roman" panose="02020603050405020304" pitchFamily="18" charset="0"/>
                          <a:ea typeface="Calibri" panose="020F0502020204030204" pitchFamily="34" charset="0"/>
                        </a:rPr>
                        <a:t>Student timetabling genetic algorithm accounting for student preferences.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7000"/>
                        </a:lnSpc>
                        <a:spcAft>
                          <a:spcPts val="800"/>
                        </a:spcAft>
                        <a:buNone/>
                      </a:pPr>
                      <a:r>
                        <a:rPr lang="en-US" sz="1800" dirty="0">
                          <a:effectLst/>
                          <a:latin typeface="Times New Roman" panose="02020603050405020304" pitchFamily="18" charset="0"/>
                          <a:ea typeface="Calibri" panose="020F0502020204030204" pitchFamily="34" charset="0"/>
                        </a:rPr>
                        <a:t>Ahmed Redha </a:t>
                      </a:r>
                      <a:r>
                        <a:rPr lang="en-US" sz="1800" dirty="0" err="1">
                          <a:effectLst/>
                          <a:latin typeface="Times New Roman" panose="02020603050405020304" pitchFamily="18" charset="0"/>
                          <a:ea typeface="Calibri" panose="020F0502020204030204" pitchFamily="34" charset="0"/>
                        </a:rPr>
                        <a:t>Mahlous</a:t>
                      </a:r>
                      <a:r>
                        <a:rPr lang="en-US" sz="1800" dirty="0">
                          <a:effectLst/>
                          <a:latin typeface="Times New Roman" panose="02020603050405020304" pitchFamily="18" charset="0"/>
                          <a:ea typeface="Calibri" panose="020F0502020204030204" pitchFamily="34" charset="0"/>
                        </a:rPr>
                        <a:t>, Houssam </a:t>
                      </a:r>
                      <a:r>
                        <a:rPr lang="en-US" sz="1800" dirty="0" err="1">
                          <a:effectLst/>
                          <a:latin typeface="Times New Roman" panose="02020603050405020304" pitchFamily="18" charset="0"/>
                          <a:ea typeface="Calibri" panose="020F0502020204030204" pitchFamily="34" charset="0"/>
                        </a:rPr>
                        <a:t>Mahlous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7000"/>
                        </a:lnSpc>
                        <a:spcAft>
                          <a:spcPts val="800"/>
                        </a:spcAft>
                        <a:buNone/>
                      </a:pPr>
                      <a:r>
                        <a:rPr lang="en-IN" sz="1800" dirty="0">
                          <a:effectLst/>
                          <a:latin typeface="Times New Roman" panose="02020603050405020304" pitchFamily="18" charset="0"/>
                          <a:ea typeface="Calibri" panose="020F0502020204030204" pitchFamily="34" charset="0"/>
                        </a:rPr>
                        <a:t>GA with binary chromosome, simulated annealing based function and adaptive mutation.</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Solves student preference satisfaction with adaptive mutation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7000"/>
                        </a:lnSpc>
                        <a:spcAft>
                          <a:spcPts val="800"/>
                        </a:spcAft>
                        <a:buNone/>
                      </a:pPr>
                      <a:r>
                        <a:rPr lang="en-IN" sz="1800" dirty="0">
                          <a:effectLst/>
                          <a:latin typeface="Times New Roman" panose="02020603050405020304" pitchFamily="18" charset="0"/>
                          <a:ea typeface="Calibri" panose="020F0502020204030204" pitchFamily="34" charset="0"/>
                        </a:rPr>
                        <a:t>No user interface, not deployed in real-time, fixed schedules only</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4385574"/>
                  </a:ext>
                </a:extLst>
              </a:tr>
              <a:tr h="2165835">
                <a:tc>
                  <a:txBody>
                    <a:bodyPr/>
                    <a:lstStyle/>
                    <a:p>
                      <a:pPr algn="l">
                        <a:lnSpc>
                          <a:spcPct val="107000"/>
                        </a:lnSpc>
                        <a:spcAft>
                          <a:spcPts val="800"/>
                        </a:spcAft>
                        <a:buNone/>
                      </a:pPr>
                      <a:r>
                        <a:rPr lang="en-IN" sz="1800" dirty="0">
                          <a:effectLst/>
                          <a:latin typeface="Times New Roman" panose="02020603050405020304" pitchFamily="18" charset="0"/>
                          <a:ea typeface="Calibri" panose="020F0502020204030204" pitchFamily="34" charset="0"/>
                        </a:rPr>
                        <a:t>Smart Timetable Generation using Genetic Algorithm.</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800" dirty="0">
                          <a:effectLst/>
                          <a:latin typeface="Times New Roman" panose="02020603050405020304" pitchFamily="18" charset="0"/>
                          <a:ea typeface="Calibri" panose="020F0502020204030204" pitchFamily="34" charset="0"/>
                        </a:rPr>
                        <a:t>Sahith Siddharth </a:t>
                      </a:r>
                      <a:r>
                        <a:rPr lang="en-IN" sz="1800" dirty="0" err="1">
                          <a:effectLst/>
                          <a:latin typeface="Times New Roman" panose="02020603050405020304" pitchFamily="18" charset="0"/>
                          <a:ea typeface="Calibri" panose="020F0502020204030204" pitchFamily="34" charset="0"/>
                        </a:rPr>
                        <a:t>Paramatmuni</a:t>
                      </a:r>
                      <a:r>
                        <a:rPr lang="en-IN" sz="1800" dirty="0">
                          <a:effectLst/>
                          <a:latin typeface="Times New Roman" panose="02020603050405020304" pitchFamily="18" charset="0"/>
                          <a:ea typeface="Calibri" panose="020F0502020204030204" pitchFamily="34" charset="0"/>
                        </a:rPr>
                        <a:t>, </a:t>
                      </a:r>
                      <a:r>
                        <a:rPr lang="en-IN" sz="1800" dirty="0" err="1">
                          <a:effectLst/>
                          <a:latin typeface="Times New Roman" panose="02020603050405020304" pitchFamily="18" charset="0"/>
                          <a:ea typeface="Calibri" panose="020F0502020204030204" pitchFamily="34" charset="0"/>
                        </a:rPr>
                        <a:t>Dumpala</a:t>
                      </a:r>
                      <a:r>
                        <a:rPr lang="en-IN" sz="1800" dirty="0">
                          <a:effectLst/>
                          <a:latin typeface="Times New Roman" panose="02020603050405020304" pitchFamily="18" charset="0"/>
                          <a:ea typeface="Calibri" panose="020F0502020204030204" pitchFamily="34" charset="0"/>
                        </a:rPr>
                        <a:t> Yashwanth Reddy, </a:t>
                      </a:r>
                      <a:r>
                        <a:rPr lang="en-IN" sz="1800" dirty="0" err="1">
                          <a:effectLst/>
                          <a:latin typeface="Times New Roman" panose="02020603050405020304" pitchFamily="18" charset="0"/>
                          <a:ea typeface="Calibri" panose="020F0502020204030204" pitchFamily="34" charset="0"/>
                        </a:rPr>
                        <a:t>Elakurthi</a:t>
                      </a:r>
                      <a:r>
                        <a:rPr lang="en-IN" sz="1800" dirty="0">
                          <a:effectLst/>
                          <a:latin typeface="Times New Roman" panose="02020603050405020304" pitchFamily="18" charset="0"/>
                          <a:ea typeface="Calibri" panose="020F0502020204030204" pitchFamily="34" charset="0"/>
                        </a:rPr>
                        <a:t> Sai Spoorthi, Akhil Dharani, K. Venkatesh Sharma</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7000"/>
                        </a:lnSpc>
                        <a:spcAft>
                          <a:spcPts val="800"/>
                        </a:spcAft>
                        <a:buNone/>
                      </a:pPr>
                      <a:r>
                        <a:rPr lang="en-IN" sz="1800" dirty="0">
                          <a:effectLst/>
                          <a:latin typeface="Times New Roman" panose="02020603050405020304" pitchFamily="18" charset="0"/>
                          <a:ea typeface="Calibri" panose="020F0502020204030204" pitchFamily="34" charset="0"/>
                        </a:rPr>
                        <a:t>Web-based GA with roulette/tournament selection, weighted fitness function; implemented in Django; outputs Excel files.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800" dirty="0">
                          <a:effectLst/>
                          <a:latin typeface="Times New Roman" panose="02020603050405020304" pitchFamily="18" charset="0"/>
                          <a:ea typeface="Calibri" panose="020F0502020204030204" pitchFamily="34" charset="0"/>
                        </a:rPr>
                        <a:t>Fast scalable and provides conflict resolution.</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800" dirty="0">
                          <a:effectLst/>
                          <a:latin typeface="Times New Roman" panose="02020603050405020304" pitchFamily="18" charset="0"/>
                          <a:ea typeface="Calibri" panose="020F0502020204030204" pitchFamily="34" charset="0"/>
                        </a:rPr>
                        <a:t>Manual weight tuning, limited collaborative input, reduced performance under extreme constraints</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5317172"/>
                  </a:ext>
                </a:extLst>
              </a:tr>
            </a:tbl>
          </a:graphicData>
        </a:graphic>
      </p:graphicFrame>
    </p:spTree>
    <p:extLst>
      <p:ext uri="{BB962C8B-B14F-4D97-AF65-F5344CB8AC3E}">
        <p14:creationId xmlns:p14="http://schemas.microsoft.com/office/powerpoint/2010/main" val="8653177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AF6E9-3A12-A186-EB8F-5A2F7E1F487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3D5AC2B-EEBB-DAFD-8302-C54B5357ABA1}"/>
              </a:ext>
            </a:extLst>
          </p:cNvPr>
          <p:cNvSpPr>
            <a:spLocks noGrp="1"/>
          </p:cNvSpPr>
          <p:nvPr>
            <p:ph type="sldNum" sz="quarter" idx="12"/>
          </p:nvPr>
        </p:nvSpPr>
        <p:spPr>
          <a:xfrm>
            <a:off x="9133114" y="6356350"/>
            <a:ext cx="2743200" cy="365125"/>
          </a:xfrm>
        </p:spPr>
        <p:txBody>
          <a:bodyPr/>
          <a:lstStyle/>
          <a:p>
            <a:fld id="{D19EB42E-18EF-4ADA-8D91-F15AD1AFC8DD}" type="slidenum">
              <a:rPr lang="en-IN" smtClean="0"/>
              <a:t>11</a:t>
            </a:fld>
            <a:endParaRPr lang="en-IN" dirty="0"/>
          </a:p>
        </p:txBody>
      </p:sp>
      <p:sp>
        <p:nvSpPr>
          <p:cNvPr id="7" name="Title 1">
            <a:extLst>
              <a:ext uri="{FF2B5EF4-FFF2-40B4-BE49-F238E27FC236}">
                <a16:creationId xmlns:a16="http://schemas.microsoft.com/office/drawing/2014/main" id="{25F09D1A-43C7-4111-9B78-EC06507261FB}"/>
              </a:ext>
            </a:extLst>
          </p:cNvPr>
          <p:cNvSpPr>
            <a:spLocks noGrp="1"/>
          </p:cNvSpPr>
          <p:nvPr>
            <p:ph type="title"/>
          </p:nvPr>
        </p:nvSpPr>
        <p:spPr>
          <a:xfrm>
            <a:off x="838200" y="365125"/>
            <a:ext cx="10515600" cy="1325563"/>
          </a:xfrm>
        </p:spPr>
        <p:txBody>
          <a:bodyPr/>
          <a:lstStyle/>
          <a:p>
            <a:pPr marL="571500" indent="-571500">
              <a:buFont typeface="Wingdings" panose="05000000000000000000" pitchFamily="2" charset="2"/>
              <a:buChar char="Ø"/>
            </a:pPr>
            <a:r>
              <a:rPr lang="en-IN" dirty="0">
                <a:solidFill>
                  <a:schemeClr val="accent1">
                    <a:lumMod val="75000"/>
                  </a:schemeClr>
                </a:solidFill>
                <a:latin typeface="Times New Roman" panose="02020603050405020304" pitchFamily="18" charset="0"/>
                <a:cs typeface="Times New Roman" panose="02020603050405020304" pitchFamily="18" charset="0"/>
              </a:rPr>
              <a:t>Literature Review</a:t>
            </a:r>
            <a:endParaRPr lang="en-IN" dirty="0"/>
          </a:p>
        </p:txBody>
      </p:sp>
      <p:graphicFrame>
        <p:nvGraphicFramePr>
          <p:cNvPr id="2" name="Content Placeholder 3">
            <a:extLst>
              <a:ext uri="{FF2B5EF4-FFF2-40B4-BE49-F238E27FC236}">
                <a16:creationId xmlns:a16="http://schemas.microsoft.com/office/drawing/2014/main" id="{9F1975B2-031A-864B-94F5-0F9C138027A0}"/>
              </a:ext>
            </a:extLst>
          </p:cNvPr>
          <p:cNvGraphicFramePr>
            <a:graphicFrameLocks/>
          </p:cNvGraphicFramePr>
          <p:nvPr>
            <p:extLst>
              <p:ext uri="{D42A27DB-BD31-4B8C-83A1-F6EECF244321}">
                <p14:modId xmlns:p14="http://schemas.microsoft.com/office/powerpoint/2010/main" val="3264080088"/>
              </p:ext>
            </p:extLst>
          </p:nvPr>
        </p:nvGraphicFramePr>
        <p:xfrm>
          <a:off x="838200" y="1538339"/>
          <a:ext cx="10515600" cy="4818011"/>
        </p:xfrm>
        <a:graphic>
          <a:graphicData uri="http://schemas.openxmlformats.org/drawingml/2006/table">
            <a:tbl>
              <a:tblPr firstRow="1" firstCol="1" lastRow="1" lastCol="1" bandRow="1">
                <a:tableStyleId>{2D5ABB26-0587-4C30-8999-92F81FD0307C}</a:tableStyleId>
              </a:tblPr>
              <a:tblGrid>
                <a:gridCol w="2103120">
                  <a:extLst>
                    <a:ext uri="{9D8B030D-6E8A-4147-A177-3AD203B41FA5}">
                      <a16:colId xmlns:a16="http://schemas.microsoft.com/office/drawing/2014/main" val="3882268063"/>
                    </a:ext>
                  </a:extLst>
                </a:gridCol>
                <a:gridCol w="1520148">
                  <a:extLst>
                    <a:ext uri="{9D8B030D-6E8A-4147-A177-3AD203B41FA5}">
                      <a16:colId xmlns:a16="http://schemas.microsoft.com/office/drawing/2014/main" val="318093879"/>
                    </a:ext>
                  </a:extLst>
                </a:gridCol>
                <a:gridCol w="2686092">
                  <a:extLst>
                    <a:ext uri="{9D8B030D-6E8A-4147-A177-3AD203B41FA5}">
                      <a16:colId xmlns:a16="http://schemas.microsoft.com/office/drawing/2014/main" val="2509785949"/>
                    </a:ext>
                  </a:extLst>
                </a:gridCol>
                <a:gridCol w="2103120">
                  <a:extLst>
                    <a:ext uri="{9D8B030D-6E8A-4147-A177-3AD203B41FA5}">
                      <a16:colId xmlns:a16="http://schemas.microsoft.com/office/drawing/2014/main" val="671650390"/>
                    </a:ext>
                  </a:extLst>
                </a:gridCol>
                <a:gridCol w="2103120">
                  <a:extLst>
                    <a:ext uri="{9D8B030D-6E8A-4147-A177-3AD203B41FA5}">
                      <a16:colId xmlns:a16="http://schemas.microsoft.com/office/drawing/2014/main" val="2832146980"/>
                    </a:ext>
                  </a:extLst>
                </a:gridCol>
              </a:tblGrid>
              <a:tr h="910942">
                <a:tc>
                  <a:txBody>
                    <a:bodyPr/>
                    <a:lstStyle/>
                    <a:p>
                      <a:pPr algn="ctr"/>
                      <a:r>
                        <a:rPr lang="en-IN" sz="2400" dirty="0">
                          <a:latin typeface="Times New Roman" panose="02020603050405020304" pitchFamily="18" charset="0"/>
                          <a:cs typeface="Times New Roman" panose="02020603050405020304" pitchFamily="18" charset="0"/>
                        </a:rPr>
                        <a:t>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a:latin typeface="Times New Roman" panose="02020603050405020304" pitchFamily="18" charset="0"/>
                          <a:cs typeface="Times New Roman" panose="02020603050405020304" pitchFamily="18" charset="0"/>
                        </a:rPr>
                        <a:t>Author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a:latin typeface="Times New Roman" panose="02020603050405020304" pitchFamily="18" charset="0"/>
                          <a:cs typeface="Times New Roman" panose="02020603050405020304" pitchFamily="18" charset="0"/>
                        </a:rPr>
                        <a:t>Methodology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a:latin typeface="Times New Roman" panose="02020603050405020304" pitchFamily="18" charset="0"/>
                          <a:cs typeface="Times New Roman" panose="02020603050405020304" pitchFamily="18" charset="0"/>
                        </a:rPr>
                        <a:t>Advantages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a:latin typeface="Times New Roman" panose="02020603050405020304" pitchFamily="18" charset="0"/>
                          <a:cs typeface="Times New Roman" panose="02020603050405020304" pitchFamily="18" charset="0"/>
                        </a:rPr>
                        <a:t>Future Work/ Limitations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78151471"/>
                  </a:ext>
                </a:extLst>
              </a:tr>
              <a:tr h="1664644">
                <a:tc>
                  <a:txBody>
                    <a:bodyPr/>
                    <a:lstStyle/>
                    <a:p>
                      <a:pPr algn="l">
                        <a:lnSpc>
                          <a:spcPct val="107000"/>
                        </a:lnSpc>
                        <a:spcAft>
                          <a:spcPts val="800"/>
                        </a:spcAft>
                        <a:buNone/>
                      </a:pPr>
                      <a:r>
                        <a:rPr lang="en-IN" sz="1800" dirty="0">
                          <a:effectLst/>
                          <a:latin typeface="Times New Roman" panose="02020603050405020304" pitchFamily="18" charset="0"/>
                          <a:ea typeface="Calibri" panose="020F0502020204030204" pitchFamily="34" charset="0"/>
                        </a:rPr>
                        <a:t>Institute Timetable Scheduler.</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800" kern="1200" dirty="0" err="1">
                          <a:solidFill>
                            <a:schemeClr val="tx1"/>
                          </a:solidFill>
                          <a:effectLst/>
                          <a:latin typeface="Times New Roman" panose="02020603050405020304" pitchFamily="18" charset="0"/>
                          <a:ea typeface="+mn-ea"/>
                          <a:cs typeface="Times New Roman" panose="02020603050405020304" pitchFamily="18" charset="0"/>
                        </a:rPr>
                        <a:t>Bhaven</a:t>
                      </a:r>
                      <a:r>
                        <a:rPr lang="en-IN" sz="1800" kern="1200" dirty="0">
                          <a:solidFill>
                            <a:schemeClr val="tx1"/>
                          </a:solidFill>
                          <a:effectLst/>
                          <a:latin typeface="Times New Roman" panose="02020603050405020304" pitchFamily="18" charset="0"/>
                          <a:ea typeface="+mn-ea"/>
                          <a:cs typeface="Times New Roman" panose="02020603050405020304" pitchFamily="18" charset="0"/>
                        </a:rPr>
                        <a:t> Gore,</a:t>
                      </a:r>
                    </a:p>
                    <a:p>
                      <a:pPr algn="l"/>
                      <a:r>
                        <a:rPr lang="en-IN" sz="1800" kern="1200" dirty="0">
                          <a:solidFill>
                            <a:schemeClr val="tx1"/>
                          </a:solidFill>
                          <a:effectLst/>
                          <a:latin typeface="Times New Roman" panose="02020603050405020304" pitchFamily="18" charset="0"/>
                          <a:ea typeface="+mn-ea"/>
                          <a:cs typeface="Times New Roman" panose="02020603050405020304" pitchFamily="18" charset="0"/>
                        </a:rPr>
                        <a:t>Disha </a:t>
                      </a:r>
                      <a:r>
                        <a:rPr lang="en-IN" sz="1800" kern="1200" dirty="0" err="1">
                          <a:solidFill>
                            <a:schemeClr val="tx1"/>
                          </a:solidFill>
                          <a:effectLst/>
                          <a:latin typeface="Times New Roman" panose="02020603050405020304" pitchFamily="18" charset="0"/>
                          <a:ea typeface="+mn-ea"/>
                          <a:cs typeface="Times New Roman" panose="02020603050405020304" pitchFamily="18" charset="0"/>
                        </a:rPr>
                        <a:t>Shirdhankar</a:t>
                      </a:r>
                      <a:r>
                        <a:rPr lang="en-IN" sz="1800" kern="1200" dirty="0">
                          <a:solidFill>
                            <a:schemeClr val="tx1"/>
                          </a:solidFill>
                          <a:effectLst/>
                          <a:latin typeface="Times New Roman" panose="02020603050405020304" pitchFamily="18" charset="0"/>
                          <a:ea typeface="+mn-ea"/>
                          <a:cs typeface="Times New Roman" panose="02020603050405020304" pitchFamily="18" charset="0"/>
                        </a:rPr>
                        <a:t>, Giriraj </a:t>
                      </a:r>
                      <a:r>
                        <a:rPr lang="en-IN" sz="1800" kern="1200" dirty="0" err="1">
                          <a:solidFill>
                            <a:schemeClr val="tx1"/>
                          </a:solidFill>
                          <a:effectLst/>
                          <a:latin typeface="Times New Roman" panose="02020603050405020304" pitchFamily="18" charset="0"/>
                          <a:ea typeface="+mn-ea"/>
                          <a:cs typeface="Times New Roman" panose="02020603050405020304" pitchFamily="18" charset="0"/>
                        </a:rPr>
                        <a:t>Belanekar</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7000"/>
                        </a:lnSpc>
                        <a:spcAft>
                          <a:spcPts val="800"/>
                        </a:spcAft>
                        <a:buNone/>
                      </a:pPr>
                      <a:r>
                        <a:rPr lang="en-IN" sz="1800" dirty="0">
                          <a:effectLst/>
                          <a:latin typeface="Times New Roman" panose="02020603050405020304" pitchFamily="18" charset="0"/>
                          <a:ea typeface="Calibri" panose="020F0502020204030204" pitchFamily="34" charset="0"/>
                        </a:rPr>
                        <a:t>GA encoding course, instructor, room and GUI for input, fitness function penalizes clashes/overloads, output in Excel.</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7000"/>
                        </a:lnSpc>
                        <a:spcAft>
                          <a:spcPts val="800"/>
                        </a:spcAft>
                        <a:buNone/>
                      </a:pPr>
                      <a:r>
                        <a:rPr lang="en-IN" sz="1800" dirty="0">
                          <a:effectLst/>
                          <a:latin typeface="Times New Roman" panose="02020603050405020304" pitchFamily="18" charset="0"/>
                          <a:ea typeface="Calibri" panose="020F0502020204030204" pitchFamily="34" charset="0"/>
                        </a:rPr>
                        <a:t>GUI interface, conflict-free timetables, Excel sheet export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7000"/>
                        </a:lnSpc>
                        <a:spcAft>
                          <a:spcPts val="800"/>
                        </a:spcAft>
                        <a:buNone/>
                      </a:pPr>
                      <a:r>
                        <a:rPr lang="en-IN" sz="1800" dirty="0">
                          <a:effectLst/>
                          <a:latin typeface="Times New Roman" panose="02020603050405020304" pitchFamily="18" charset="0"/>
                          <a:ea typeface="Calibri" panose="020F0502020204030204" pitchFamily="34" charset="0"/>
                        </a:rPr>
                        <a:t>No soft constraints, Lacks scalability.</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4385574"/>
                  </a:ext>
                </a:extLst>
              </a:tr>
              <a:tr h="2165835">
                <a:tc>
                  <a:txBody>
                    <a:bodyPr/>
                    <a:lstStyle/>
                    <a:p>
                      <a:pPr algn="l">
                        <a:lnSpc>
                          <a:spcPct val="107000"/>
                        </a:lnSpc>
                        <a:spcAft>
                          <a:spcPts val="800"/>
                        </a:spcAft>
                        <a:buNone/>
                      </a:pPr>
                      <a:r>
                        <a:rPr lang="en-IN" sz="1800" dirty="0">
                          <a:effectLst/>
                          <a:latin typeface="Times New Roman" panose="02020603050405020304" pitchFamily="18" charset="0"/>
                          <a:ea typeface="Calibri" panose="020F0502020204030204" pitchFamily="34" charset="0"/>
                        </a:rPr>
                        <a:t>Genetic algorithm for solving university course timetabling problem using dynamic chromosomes.</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dirty="0">
                          <a:effectLst/>
                          <a:latin typeface="Times New Roman" panose="02020603050405020304" pitchFamily="18" charset="0"/>
                          <a:ea typeface="Calibri" panose="020F0502020204030204" pitchFamily="34" charset="0"/>
                        </a:rPr>
                        <a:t>Ghazi </a:t>
                      </a:r>
                      <a:r>
                        <a:rPr lang="en-US" sz="1800" dirty="0" err="1">
                          <a:effectLst/>
                          <a:latin typeface="Times New Roman" panose="02020603050405020304" pitchFamily="18" charset="0"/>
                          <a:ea typeface="Calibri" panose="020F0502020204030204" pitchFamily="34" charset="0"/>
                        </a:rPr>
                        <a:t>Alnowaini</a:t>
                      </a:r>
                      <a:r>
                        <a:rPr lang="en-US" sz="1800" dirty="0">
                          <a:effectLst/>
                          <a:latin typeface="Times New Roman" panose="02020603050405020304" pitchFamily="18" charset="0"/>
                          <a:ea typeface="Calibri" panose="020F0502020204030204" pitchFamily="34" charset="0"/>
                        </a:rPr>
                        <a:t>, Amjad Abdullah </a:t>
                      </a:r>
                      <a:r>
                        <a:rPr lang="en-US" sz="1800" dirty="0" err="1">
                          <a:effectLst/>
                          <a:latin typeface="Times New Roman" panose="02020603050405020304" pitchFamily="18" charset="0"/>
                          <a:ea typeface="Calibri" panose="020F0502020204030204" pitchFamily="34" charset="0"/>
                        </a:rPr>
                        <a:t>Aljomai</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7000"/>
                        </a:lnSpc>
                        <a:spcAft>
                          <a:spcPts val="800"/>
                        </a:spcAft>
                        <a:buNone/>
                      </a:pPr>
                      <a:r>
                        <a:rPr lang="en-IN" sz="1800" dirty="0">
                          <a:effectLst/>
                          <a:latin typeface="Times New Roman" panose="02020603050405020304" pitchFamily="18" charset="0"/>
                          <a:ea typeface="Calibri" panose="020F0502020204030204" pitchFamily="34" charset="0"/>
                        </a:rPr>
                        <a:t>Genetic Algorithm using dynamic chromosomes for course-time-room tuples, roulette wheel selection; two-point crossover, optimized mutation.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800" dirty="0">
                          <a:effectLst/>
                          <a:latin typeface="Times New Roman" panose="02020603050405020304" pitchFamily="18" charset="0"/>
                          <a:ea typeface="Calibri" panose="020F0502020204030204" pitchFamily="34" charset="0"/>
                        </a:rPr>
                        <a:t>93% conflict-free, handles varying loads.</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800" dirty="0">
                          <a:effectLst/>
                          <a:latin typeface="Times New Roman" panose="02020603050405020304" pitchFamily="18" charset="0"/>
                          <a:ea typeface="Calibri" panose="020F0502020204030204" pitchFamily="34" charset="0"/>
                        </a:rPr>
                        <a:t>Poor performance beyond 82 courses, lacks real-time and automation</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5317172"/>
                  </a:ext>
                </a:extLst>
              </a:tr>
            </a:tbl>
          </a:graphicData>
        </a:graphic>
      </p:graphicFrame>
    </p:spTree>
    <p:extLst>
      <p:ext uri="{BB962C8B-B14F-4D97-AF65-F5344CB8AC3E}">
        <p14:creationId xmlns:p14="http://schemas.microsoft.com/office/powerpoint/2010/main" val="2162723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68626-3BE7-4580-F05D-866CB54DE4AC}"/>
              </a:ext>
            </a:extLst>
          </p:cNvPr>
          <p:cNvSpPr>
            <a:spLocks noGrp="1"/>
          </p:cNvSpPr>
          <p:nvPr>
            <p:ph type="title"/>
          </p:nvPr>
        </p:nvSpPr>
        <p:spPr>
          <a:xfrm>
            <a:off x="548833" y="399849"/>
            <a:ext cx="10515600" cy="1325563"/>
          </a:xfrm>
        </p:spPr>
        <p:txBody>
          <a:bodyPr/>
          <a:lstStyle/>
          <a:p>
            <a:pPr marL="571500" indent="-571500">
              <a:buFont typeface="Wingdings" panose="05000000000000000000" pitchFamily="2" charset="2"/>
              <a:buChar char="Ø"/>
            </a:pPr>
            <a:r>
              <a:rPr lang="en-IN" dirty="0">
                <a:solidFill>
                  <a:schemeClr val="accent1">
                    <a:lumMod val="75000"/>
                  </a:schemeClr>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D8046ABC-16CE-210D-17D4-7F4327520C78}"/>
              </a:ext>
            </a:extLst>
          </p:cNvPr>
          <p:cNvSpPr>
            <a:spLocks noGrp="1"/>
          </p:cNvSpPr>
          <p:nvPr>
            <p:ph idx="1"/>
          </p:nvPr>
        </p:nvSpPr>
        <p:spPr>
          <a:xfrm>
            <a:off x="329381" y="1725412"/>
            <a:ext cx="11533238" cy="3759098"/>
          </a:xfrm>
        </p:spPr>
        <p:txBody>
          <a:bodyPr>
            <a:normAutofit/>
          </a:bodyPr>
          <a:lstStyle/>
          <a:p>
            <a:pPr algn="just"/>
            <a:r>
              <a:rPr lang="en-US" sz="2400" dirty="0">
                <a:latin typeface="Times New Roman" panose="02020603050405020304" pitchFamily="18" charset="0"/>
                <a:cs typeface="Times New Roman" panose="02020603050405020304" pitchFamily="18" charset="0"/>
              </a:rPr>
              <a:t>The intention of the algorithm to generate a time-table schedule automatically is satisfied. The algorithm incorporates a number of techniques, aimed to improve the efficiency of the search operation. By automating this process with the help of computer assistance timetable generator can save a lot of precious time of administrators who are involved in creating and managing various timetables of the institute.</a:t>
            </a:r>
          </a:p>
          <a:p>
            <a:pPr algn="just"/>
            <a:r>
              <a:rPr lang="en-US" sz="2400" dirty="0">
                <a:latin typeface="Times New Roman" panose="02020603050405020304" pitchFamily="18" charset="0"/>
                <a:cs typeface="Times New Roman" panose="02020603050405020304" pitchFamily="18" charset="0"/>
              </a:rPr>
              <a:t>This reduces time consumption and the error in framing the timetable manually. The benefits of this approach are simplified design and reduced development time. </a:t>
            </a:r>
          </a:p>
        </p:txBody>
      </p:sp>
      <p:sp>
        <p:nvSpPr>
          <p:cNvPr id="8" name="Slide Number Placeholder 7">
            <a:extLst>
              <a:ext uri="{FF2B5EF4-FFF2-40B4-BE49-F238E27FC236}">
                <a16:creationId xmlns:a16="http://schemas.microsoft.com/office/drawing/2014/main" id="{BB230758-FB0A-8344-3307-F9D313073EE3}"/>
              </a:ext>
            </a:extLst>
          </p:cNvPr>
          <p:cNvSpPr>
            <a:spLocks noGrp="1"/>
          </p:cNvSpPr>
          <p:nvPr>
            <p:ph type="sldNum" sz="quarter" idx="12"/>
          </p:nvPr>
        </p:nvSpPr>
        <p:spPr>
          <a:xfrm>
            <a:off x="9119419" y="6346301"/>
            <a:ext cx="2743200" cy="365125"/>
          </a:xfrm>
        </p:spPr>
        <p:txBody>
          <a:bodyPr/>
          <a:lstStyle/>
          <a:p>
            <a:fld id="{D19EB42E-18EF-4ADA-8D91-F15AD1AFC8DD}" type="slidenum">
              <a:rPr lang="en-IN" smtClean="0"/>
              <a:t>12</a:t>
            </a:fld>
            <a:endParaRPr lang="en-IN"/>
          </a:p>
        </p:txBody>
      </p:sp>
    </p:spTree>
    <p:extLst>
      <p:ext uri="{BB962C8B-B14F-4D97-AF65-F5344CB8AC3E}">
        <p14:creationId xmlns:p14="http://schemas.microsoft.com/office/powerpoint/2010/main" val="1025537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7B7ED-D33F-23A8-ED18-146DA0F8D8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6E6690-8729-87EC-3232-04810AF43C01}"/>
              </a:ext>
            </a:extLst>
          </p:cNvPr>
          <p:cNvSpPr>
            <a:spLocks noGrp="1"/>
          </p:cNvSpPr>
          <p:nvPr>
            <p:ph type="title"/>
          </p:nvPr>
        </p:nvSpPr>
        <p:spPr>
          <a:xfrm>
            <a:off x="548833" y="399849"/>
            <a:ext cx="10515600" cy="1325563"/>
          </a:xfrm>
        </p:spPr>
        <p:txBody>
          <a:bodyPr/>
          <a:lstStyle/>
          <a:p>
            <a:pPr marL="571500" indent="-571500">
              <a:buFont typeface="Wingdings" panose="05000000000000000000" pitchFamily="2" charset="2"/>
              <a:buChar char="Ø"/>
            </a:pPr>
            <a:r>
              <a:rPr lang="en-IN" dirty="0">
                <a:solidFill>
                  <a:schemeClr val="accent1">
                    <a:lumMod val="75000"/>
                  </a:schemeClr>
                </a:solidFill>
                <a:latin typeface="Times New Roman" panose="02020603050405020304" pitchFamily="18" charset="0"/>
                <a:cs typeface="Times New Roman" panose="02020603050405020304" pitchFamily="18" charset="0"/>
              </a:rPr>
              <a:t>References</a:t>
            </a:r>
          </a:p>
        </p:txBody>
      </p:sp>
      <p:sp>
        <p:nvSpPr>
          <p:cNvPr id="8" name="Slide Number Placeholder 7">
            <a:extLst>
              <a:ext uri="{FF2B5EF4-FFF2-40B4-BE49-F238E27FC236}">
                <a16:creationId xmlns:a16="http://schemas.microsoft.com/office/drawing/2014/main" id="{0C60E798-9E46-1299-D0F7-D299269FD151}"/>
              </a:ext>
            </a:extLst>
          </p:cNvPr>
          <p:cNvSpPr>
            <a:spLocks noGrp="1"/>
          </p:cNvSpPr>
          <p:nvPr>
            <p:ph type="sldNum" sz="quarter" idx="12"/>
          </p:nvPr>
        </p:nvSpPr>
        <p:spPr>
          <a:xfrm>
            <a:off x="9102969" y="6385623"/>
            <a:ext cx="2743200" cy="365125"/>
          </a:xfrm>
        </p:spPr>
        <p:txBody>
          <a:bodyPr/>
          <a:lstStyle/>
          <a:p>
            <a:fld id="{D19EB42E-18EF-4ADA-8D91-F15AD1AFC8DD}" type="slidenum">
              <a:rPr lang="en-IN" smtClean="0"/>
              <a:t>13</a:t>
            </a:fld>
            <a:endParaRPr lang="en-IN"/>
          </a:p>
        </p:txBody>
      </p:sp>
      <p:sp>
        <p:nvSpPr>
          <p:cNvPr id="6" name="Content Placeholder 2">
            <a:extLst>
              <a:ext uri="{FF2B5EF4-FFF2-40B4-BE49-F238E27FC236}">
                <a16:creationId xmlns:a16="http://schemas.microsoft.com/office/drawing/2014/main" id="{F9F27A7E-F166-EA44-8F8F-AB0B46DB2E1F}"/>
              </a:ext>
            </a:extLst>
          </p:cNvPr>
          <p:cNvSpPr>
            <a:spLocks noGrp="1"/>
          </p:cNvSpPr>
          <p:nvPr>
            <p:ph idx="1"/>
          </p:nvPr>
        </p:nvSpPr>
        <p:spPr>
          <a:xfrm>
            <a:off x="548833" y="1345254"/>
            <a:ext cx="10796752" cy="5405494"/>
          </a:xfrm>
        </p:spPr>
        <p:txBody>
          <a:bodyPr>
            <a:normAutofit fontScale="40000" lnSpcReduction="20000"/>
          </a:bodyPr>
          <a:lstStyle/>
          <a:p>
            <a:pPr marL="457200" indent="-457200" algn="just">
              <a:lnSpc>
                <a:spcPct val="150000"/>
              </a:lnSpc>
              <a:spcAft>
                <a:spcPts val="800"/>
              </a:spcAft>
              <a:buNone/>
            </a:pPr>
            <a:r>
              <a:rPr lang="en-IN" sz="4400" kern="100" dirty="0">
                <a:effectLst/>
                <a:latin typeface="Times New Roman" panose="02020603050405020304" pitchFamily="18" charset="0"/>
                <a:ea typeface="Calibri" panose="020F0502020204030204" pitchFamily="34" charset="0"/>
                <a:cs typeface="Times New Roman" panose="02020603050405020304" pitchFamily="18" charset="0"/>
              </a:rPr>
              <a:t>	Abdelhalim, Esraa A., and Ghada A. El Khayat. "A utilization-based genetic algorithm for solving the university  timetabling problem (</a:t>
            </a:r>
            <a:r>
              <a:rPr lang="en-IN" sz="4400" kern="100" dirty="0" err="1">
                <a:effectLst/>
                <a:latin typeface="Times New Roman" panose="02020603050405020304" pitchFamily="18" charset="0"/>
                <a:ea typeface="Calibri" panose="020F0502020204030204" pitchFamily="34" charset="0"/>
                <a:cs typeface="Times New Roman" panose="02020603050405020304" pitchFamily="18" charset="0"/>
              </a:rPr>
              <a:t>uga</a:t>
            </a:r>
            <a:r>
              <a:rPr lang="en-IN" sz="44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4400" i="1" kern="100" dirty="0">
                <a:effectLst/>
                <a:latin typeface="Times New Roman" panose="02020603050405020304" pitchFamily="18" charset="0"/>
                <a:ea typeface="Calibri" panose="020F0502020204030204" pitchFamily="34" charset="0"/>
                <a:cs typeface="Times New Roman" panose="02020603050405020304" pitchFamily="18" charset="0"/>
              </a:rPr>
              <a:t>Alexandria Engineering Journal</a:t>
            </a:r>
            <a:r>
              <a:rPr lang="en-IN" sz="4400" kern="100" dirty="0">
                <a:effectLst/>
                <a:latin typeface="Times New Roman" panose="02020603050405020304" pitchFamily="18" charset="0"/>
                <a:ea typeface="Calibri" panose="020F0502020204030204" pitchFamily="34" charset="0"/>
                <a:cs typeface="Times New Roman" panose="02020603050405020304" pitchFamily="18" charset="0"/>
              </a:rPr>
              <a:t> 55, no. 2 (2016): 1395-1409.</a:t>
            </a:r>
          </a:p>
          <a:p>
            <a:pPr marL="457200" indent="-457200" algn="just">
              <a:lnSpc>
                <a:spcPct val="150000"/>
              </a:lnSpc>
              <a:spcAft>
                <a:spcPts val="800"/>
              </a:spcAft>
              <a:buNone/>
            </a:pPr>
            <a:r>
              <a:rPr lang="en-IN" sz="44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4400" kern="100" dirty="0" err="1">
                <a:effectLst/>
                <a:latin typeface="Times New Roman" panose="02020603050405020304" pitchFamily="18" charset="0"/>
                <a:ea typeface="Calibri" panose="020F0502020204030204" pitchFamily="34" charset="0"/>
                <a:cs typeface="Times New Roman" panose="02020603050405020304" pitchFamily="18" charset="0"/>
              </a:rPr>
              <a:t>Colorni</a:t>
            </a:r>
            <a:r>
              <a:rPr lang="en-IN" sz="4400" kern="100" dirty="0">
                <a:effectLst/>
                <a:latin typeface="Times New Roman" panose="02020603050405020304" pitchFamily="18" charset="0"/>
                <a:ea typeface="Calibri" panose="020F0502020204030204" pitchFamily="34" charset="0"/>
                <a:cs typeface="Times New Roman" panose="02020603050405020304" pitchFamily="18" charset="0"/>
              </a:rPr>
              <a:t>, Alberto, Marco Dorigo, and Vittorio </a:t>
            </a:r>
            <a:r>
              <a:rPr lang="en-IN" sz="4400" kern="100" dirty="0" err="1">
                <a:effectLst/>
                <a:latin typeface="Times New Roman" panose="02020603050405020304" pitchFamily="18" charset="0"/>
                <a:ea typeface="Calibri" panose="020F0502020204030204" pitchFamily="34" charset="0"/>
                <a:cs typeface="Times New Roman" panose="02020603050405020304" pitchFamily="18" charset="0"/>
              </a:rPr>
              <a:t>Maniezzo</a:t>
            </a:r>
            <a:r>
              <a:rPr lang="en-IN" sz="4400" kern="100" dirty="0">
                <a:effectLst/>
                <a:latin typeface="Times New Roman" panose="02020603050405020304" pitchFamily="18" charset="0"/>
                <a:ea typeface="Calibri" panose="020F0502020204030204" pitchFamily="34" charset="0"/>
                <a:cs typeface="Times New Roman" panose="02020603050405020304" pitchFamily="18" charset="0"/>
              </a:rPr>
              <a:t>. "A genetic algorithm to solve the timetable problem." </a:t>
            </a:r>
            <a:r>
              <a:rPr lang="en-IN" sz="4400" i="1" kern="100" dirty="0" err="1">
                <a:effectLst/>
                <a:latin typeface="Times New Roman" panose="02020603050405020304" pitchFamily="18" charset="0"/>
                <a:ea typeface="Calibri" panose="020F0502020204030204" pitchFamily="34" charset="0"/>
                <a:cs typeface="Times New Roman" panose="02020603050405020304" pitchFamily="18" charset="0"/>
              </a:rPr>
              <a:t>Politecnico</a:t>
            </a:r>
            <a:r>
              <a:rPr lang="en-IN" sz="4400" i="1" kern="100" dirty="0">
                <a:effectLst/>
                <a:latin typeface="Times New Roman" panose="02020603050405020304" pitchFamily="18" charset="0"/>
                <a:ea typeface="Calibri" panose="020F0502020204030204" pitchFamily="34" charset="0"/>
                <a:cs typeface="Times New Roman" panose="02020603050405020304" pitchFamily="18" charset="0"/>
              </a:rPr>
              <a:t> di Milano, Milan, Italy TR</a:t>
            </a:r>
            <a:r>
              <a:rPr lang="en-IN" sz="4400" kern="100" dirty="0">
                <a:effectLst/>
                <a:latin typeface="Times New Roman" panose="02020603050405020304" pitchFamily="18" charset="0"/>
                <a:ea typeface="Calibri" panose="020F0502020204030204" pitchFamily="34" charset="0"/>
                <a:cs typeface="Times New Roman" panose="02020603050405020304" pitchFamily="18" charset="0"/>
              </a:rPr>
              <a:t> (1992): 90-060.</a:t>
            </a:r>
          </a:p>
          <a:p>
            <a:pPr marL="457200" indent="-457200" algn="just">
              <a:lnSpc>
                <a:spcPct val="150000"/>
              </a:lnSpc>
              <a:spcAft>
                <a:spcPts val="800"/>
              </a:spcAft>
              <a:buNone/>
            </a:pPr>
            <a:r>
              <a:rPr lang="en-IN" sz="4400" kern="1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4400" kern="100" dirty="0" err="1">
                <a:effectLst/>
                <a:latin typeface="Times New Roman" panose="02020603050405020304" pitchFamily="18" charset="0"/>
                <a:ea typeface="Calibri" panose="020F0502020204030204" pitchFamily="34" charset="0"/>
                <a:cs typeface="Times New Roman" panose="02020603050405020304" pitchFamily="18" charset="0"/>
              </a:rPr>
              <a:t>Alsmadi</a:t>
            </a:r>
            <a:r>
              <a:rPr lang="en-IN" sz="4400" kern="100" dirty="0">
                <a:effectLst/>
                <a:latin typeface="Times New Roman" panose="02020603050405020304" pitchFamily="18" charset="0"/>
                <a:ea typeface="Calibri" panose="020F0502020204030204" pitchFamily="34" charset="0"/>
                <a:cs typeface="Times New Roman" panose="02020603050405020304" pitchFamily="18" charset="0"/>
              </a:rPr>
              <a:t>, Othman M. K., S. </a:t>
            </a:r>
            <a:r>
              <a:rPr lang="en-IN" sz="4400" kern="100" dirty="0" err="1">
                <a:effectLst/>
                <a:latin typeface="Times New Roman" panose="02020603050405020304" pitchFamily="18" charset="0"/>
                <a:ea typeface="Calibri" panose="020F0502020204030204" pitchFamily="34" charset="0"/>
                <a:cs typeface="Times New Roman" panose="02020603050405020304" pitchFamily="18" charset="0"/>
              </a:rPr>
              <a:t>Za'er</a:t>
            </a:r>
            <a:r>
              <a:rPr lang="en-IN" sz="4400" kern="100" dirty="0">
                <a:effectLst/>
                <a:latin typeface="Times New Roman" panose="02020603050405020304" pitchFamily="18" charset="0"/>
                <a:ea typeface="Calibri" panose="020F0502020204030204" pitchFamily="34" charset="0"/>
                <a:cs typeface="Times New Roman" panose="02020603050405020304" pitchFamily="18" charset="0"/>
              </a:rPr>
              <a:t>, Dia I. Abu-Al-Nadi, and Alia </a:t>
            </a:r>
            <a:r>
              <a:rPr lang="en-IN" sz="4400" kern="100" dirty="0" err="1">
                <a:effectLst/>
                <a:latin typeface="Times New Roman" panose="02020603050405020304" pitchFamily="18" charset="0"/>
                <a:ea typeface="Calibri" panose="020F0502020204030204" pitchFamily="34" charset="0"/>
                <a:cs typeface="Times New Roman" panose="02020603050405020304" pitchFamily="18" charset="0"/>
              </a:rPr>
              <a:t>Algsoon</a:t>
            </a:r>
            <a:r>
              <a:rPr lang="en-IN" sz="4400" kern="100" dirty="0">
                <a:effectLst/>
                <a:latin typeface="Times New Roman" panose="02020603050405020304" pitchFamily="18" charset="0"/>
                <a:ea typeface="Calibri" panose="020F0502020204030204" pitchFamily="34" charset="0"/>
                <a:cs typeface="Times New Roman" panose="02020603050405020304" pitchFamily="18" charset="0"/>
              </a:rPr>
              <a:t>. "A novel genetic algorithm technique for solving university course timetabling problems." In </a:t>
            </a:r>
            <a:r>
              <a:rPr lang="en-IN" sz="4400" i="1" kern="100" dirty="0">
                <a:effectLst/>
                <a:latin typeface="Times New Roman" panose="02020603050405020304" pitchFamily="18" charset="0"/>
                <a:ea typeface="Calibri" panose="020F0502020204030204" pitchFamily="34" charset="0"/>
                <a:cs typeface="Times New Roman" panose="02020603050405020304" pitchFamily="18" charset="0"/>
              </a:rPr>
              <a:t>International Workshop on Systems, Signal Processing and their Applications, WOSSPA</a:t>
            </a:r>
            <a:r>
              <a:rPr lang="en-IN" sz="4400" kern="100" dirty="0">
                <a:effectLst/>
                <a:latin typeface="Times New Roman" panose="02020603050405020304" pitchFamily="18" charset="0"/>
                <a:ea typeface="Calibri" panose="020F0502020204030204" pitchFamily="34" charset="0"/>
                <a:cs typeface="Times New Roman" panose="02020603050405020304" pitchFamily="18" charset="0"/>
              </a:rPr>
              <a:t>, pp. 195-198. IEEE, 2011.</a:t>
            </a:r>
            <a:endParaRPr lang="en-IN" sz="4400" kern="100" dirty="0">
              <a:latin typeface="Times New Roman" panose="02020603050405020304" pitchFamily="18" charset="0"/>
              <a:ea typeface="Calibri" panose="020F0502020204030204" pitchFamily="34" charset="0"/>
              <a:cs typeface="Times New Roman" panose="02020603050405020304" pitchFamily="18" charset="0"/>
            </a:endParaRPr>
          </a:p>
          <a:p>
            <a:pPr marL="457200" indent="-457200" algn="just">
              <a:lnSpc>
                <a:spcPct val="150000"/>
              </a:lnSpc>
              <a:spcAft>
                <a:spcPts val="800"/>
              </a:spcAft>
              <a:buNone/>
            </a:pPr>
            <a:r>
              <a:rPr lang="en-IN" sz="4400" kern="100" dirty="0">
                <a:effectLst/>
                <a:latin typeface="Times New Roman" panose="02020603050405020304" pitchFamily="18" charset="0"/>
                <a:ea typeface="Calibri" panose="020F0502020204030204" pitchFamily="34" charset="0"/>
                <a:cs typeface="Times New Roman" panose="02020603050405020304" pitchFamily="18" charset="0"/>
              </a:rPr>
              <a:t>	Han, Xu, and Dian Wang. "Gradual Optimization of University Course Scheduling Problem Using Genetic Algorithm and Dynamic Programming." </a:t>
            </a:r>
            <a:r>
              <a:rPr lang="en-IN" sz="4400" i="1" kern="100" dirty="0">
                <a:effectLst/>
                <a:latin typeface="Times New Roman" panose="02020603050405020304" pitchFamily="18" charset="0"/>
                <a:ea typeface="Calibri" panose="020F0502020204030204" pitchFamily="34" charset="0"/>
                <a:cs typeface="Times New Roman" panose="02020603050405020304" pitchFamily="18" charset="0"/>
              </a:rPr>
              <a:t>Algorithms</a:t>
            </a:r>
            <a:r>
              <a:rPr lang="en-IN" sz="4400" kern="100" dirty="0">
                <a:effectLst/>
                <a:latin typeface="Times New Roman" panose="02020603050405020304" pitchFamily="18" charset="0"/>
                <a:ea typeface="Calibri" panose="020F0502020204030204" pitchFamily="34" charset="0"/>
                <a:cs typeface="Times New Roman" panose="02020603050405020304" pitchFamily="18" charset="0"/>
              </a:rPr>
              <a:t> 18, no. 3 (2025): 158.</a:t>
            </a:r>
          </a:p>
          <a:p>
            <a:pPr marL="457200" indent="-457200" algn="just">
              <a:lnSpc>
                <a:spcPct val="150000"/>
              </a:lnSpc>
              <a:spcAft>
                <a:spcPts val="800"/>
              </a:spcAft>
              <a:buNone/>
            </a:pPr>
            <a:r>
              <a:rPr lang="en-IN" sz="4400" kern="100" dirty="0">
                <a:latin typeface="Times New Roman" panose="02020603050405020304" pitchFamily="18" charset="0"/>
                <a:ea typeface="Calibri" panose="020F0502020204030204" pitchFamily="34" charset="0"/>
                <a:cs typeface="Times New Roman" panose="02020603050405020304" pitchFamily="18" charset="0"/>
              </a:rPr>
              <a:t>	</a:t>
            </a:r>
            <a:r>
              <a:rPr lang="en-IN" sz="4400" kern="100" dirty="0" err="1">
                <a:effectLst/>
                <a:latin typeface="Times New Roman" panose="02020603050405020304" pitchFamily="18" charset="0"/>
                <a:ea typeface="Calibri" panose="020F0502020204030204" pitchFamily="34" charset="0"/>
                <a:cs typeface="Times New Roman" panose="02020603050405020304" pitchFamily="18" charset="0"/>
              </a:rPr>
              <a:t>Mahlous</a:t>
            </a:r>
            <a:r>
              <a:rPr lang="en-IN" sz="4400" kern="100" dirty="0">
                <a:effectLst/>
                <a:latin typeface="Times New Roman" panose="02020603050405020304" pitchFamily="18" charset="0"/>
                <a:ea typeface="Calibri" panose="020F0502020204030204" pitchFamily="34" charset="0"/>
                <a:cs typeface="Times New Roman" panose="02020603050405020304" pitchFamily="18" charset="0"/>
              </a:rPr>
              <a:t>, Ahmed Redha, and Houssam </a:t>
            </a:r>
            <a:r>
              <a:rPr lang="en-IN" sz="4400" kern="100" dirty="0" err="1">
                <a:effectLst/>
                <a:latin typeface="Times New Roman" panose="02020603050405020304" pitchFamily="18" charset="0"/>
                <a:ea typeface="Calibri" panose="020F0502020204030204" pitchFamily="34" charset="0"/>
                <a:cs typeface="Times New Roman" panose="02020603050405020304" pitchFamily="18" charset="0"/>
              </a:rPr>
              <a:t>Mahlous</a:t>
            </a:r>
            <a:r>
              <a:rPr lang="en-IN" sz="4400" kern="100" dirty="0">
                <a:effectLst/>
                <a:latin typeface="Times New Roman" panose="02020603050405020304" pitchFamily="18" charset="0"/>
                <a:ea typeface="Calibri" panose="020F0502020204030204" pitchFamily="34" charset="0"/>
                <a:cs typeface="Times New Roman" panose="02020603050405020304" pitchFamily="18" charset="0"/>
              </a:rPr>
              <a:t>. "Student timetabling genetic algorithm accounting for student preferences." </a:t>
            </a:r>
            <a:r>
              <a:rPr lang="en-IN" sz="4400" i="1" kern="100" dirty="0" err="1">
                <a:effectLst/>
                <a:latin typeface="Times New Roman" panose="02020603050405020304" pitchFamily="18" charset="0"/>
                <a:ea typeface="Calibri" panose="020F0502020204030204" pitchFamily="34" charset="0"/>
                <a:cs typeface="Times New Roman" panose="02020603050405020304" pitchFamily="18" charset="0"/>
              </a:rPr>
              <a:t>PeerJ</a:t>
            </a:r>
            <a:r>
              <a:rPr lang="en-IN" sz="4400" i="1" kern="100" dirty="0">
                <a:effectLst/>
                <a:latin typeface="Times New Roman" panose="02020603050405020304" pitchFamily="18" charset="0"/>
                <a:ea typeface="Calibri" panose="020F0502020204030204" pitchFamily="34" charset="0"/>
                <a:cs typeface="Times New Roman" panose="02020603050405020304" pitchFamily="18" charset="0"/>
              </a:rPr>
              <a:t> Computer Science</a:t>
            </a:r>
            <a:r>
              <a:rPr lang="en-IN" sz="4400" kern="100" dirty="0">
                <a:effectLst/>
                <a:latin typeface="Times New Roman" panose="02020603050405020304" pitchFamily="18" charset="0"/>
                <a:ea typeface="Calibri" panose="020F0502020204030204" pitchFamily="34" charset="0"/>
                <a:cs typeface="Times New Roman" panose="02020603050405020304" pitchFamily="18" charset="0"/>
              </a:rPr>
              <a:t> 9 (2023): e1200.’</a:t>
            </a:r>
          </a:p>
          <a:p>
            <a:pPr marL="457200" indent="-457200" algn="just">
              <a:lnSpc>
                <a:spcPct val="150000"/>
              </a:lnSpc>
              <a:spcAft>
                <a:spcPts val="800"/>
              </a:spcAft>
              <a:buNone/>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3975906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A69D4-D729-6B5B-1727-7E43357912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A974A4-0C7A-62FB-22A9-DDE08A10B748}"/>
              </a:ext>
            </a:extLst>
          </p:cNvPr>
          <p:cNvSpPr>
            <a:spLocks noGrp="1"/>
          </p:cNvSpPr>
          <p:nvPr>
            <p:ph type="title"/>
          </p:nvPr>
        </p:nvSpPr>
        <p:spPr>
          <a:xfrm>
            <a:off x="548833" y="399849"/>
            <a:ext cx="10515600" cy="1325563"/>
          </a:xfrm>
        </p:spPr>
        <p:txBody>
          <a:bodyPr/>
          <a:lstStyle/>
          <a:p>
            <a:pPr marL="571500" indent="-571500">
              <a:buFont typeface="Wingdings" panose="05000000000000000000" pitchFamily="2" charset="2"/>
              <a:buChar char="Ø"/>
            </a:pPr>
            <a:r>
              <a:rPr lang="en-IN" dirty="0">
                <a:solidFill>
                  <a:schemeClr val="accent1">
                    <a:lumMod val="75000"/>
                  </a:schemeClr>
                </a:solidFill>
                <a:latin typeface="Times New Roman" panose="02020603050405020304" pitchFamily="18" charset="0"/>
                <a:cs typeface="Times New Roman" panose="02020603050405020304" pitchFamily="18" charset="0"/>
              </a:rPr>
              <a:t>References</a:t>
            </a:r>
          </a:p>
        </p:txBody>
      </p:sp>
      <p:sp>
        <p:nvSpPr>
          <p:cNvPr id="8" name="Slide Number Placeholder 7">
            <a:extLst>
              <a:ext uri="{FF2B5EF4-FFF2-40B4-BE49-F238E27FC236}">
                <a16:creationId xmlns:a16="http://schemas.microsoft.com/office/drawing/2014/main" id="{AE5341CD-185A-4491-51D8-12F918CC1E8B}"/>
              </a:ext>
            </a:extLst>
          </p:cNvPr>
          <p:cNvSpPr>
            <a:spLocks noGrp="1"/>
          </p:cNvSpPr>
          <p:nvPr>
            <p:ph type="sldNum" sz="quarter" idx="12"/>
          </p:nvPr>
        </p:nvSpPr>
        <p:spPr>
          <a:xfrm>
            <a:off x="9124335" y="6421541"/>
            <a:ext cx="2743200" cy="365125"/>
          </a:xfrm>
        </p:spPr>
        <p:txBody>
          <a:bodyPr/>
          <a:lstStyle/>
          <a:p>
            <a:fld id="{D19EB42E-18EF-4ADA-8D91-F15AD1AFC8DD}" type="slidenum">
              <a:rPr lang="en-IN" smtClean="0"/>
              <a:t>14</a:t>
            </a:fld>
            <a:endParaRPr lang="en-IN" dirty="0"/>
          </a:p>
        </p:txBody>
      </p:sp>
      <p:sp>
        <p:nvSpPr>
          <p:cNvPr id="6" name="TextBox 5">
            <a:extLst>
              <a:ext uri="{FF2B5EF4-FFF2-40B4-BE49-F238E27FC236}">
                <a16:creationId xmlns:a16="http://schemas.microsoft.com/office/drawing/2014/main" id="{35CF06B0-7D22-4522-5DC9-4BFDC553ACDE}"/>
              </a:ext>
            </a:extLst>
          </p:cNvPr>
          <p:cNvSpPr txBox="1"/>
          <p:nvPr/>
        </p:nvSpPr>
        <p:spPr>
          <a:xfrm>
            <a:off x="530943" y="1425536"/>
            <a:ext cx="11336592" cy="3970318"/>
          </a:xfrm>
          <a:prstGeom prst="rect">
            <a:avLst/>
          </a:prstGeom>
          <a:noFill/>
        </p:spPr>
        <p:txBody>
          <a:bodyPr wrap="square">
            <a:spAutoFit/>
          </a:bodyPr>
          <a:lstStyle/>
          <a:p>
            <a:pPr marL="457200" indent="-457200" algn="just">
              <a:lnSpc>
                <a:spcPct val="150000"/>
              </a:lnSpc>
              <a:spcAft>
                <a:spcPts val="800"/>
              </a:spcAft>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kern="100" dirty="0" err="1">
                <a:effectLst/>
                <a:latin typeface="Times New Roman" panose="02020603050405020304" pitchFamily="18" charset="0"/>
                <a:ea typeface="Calibri" panose="020F0502020204030204" pitchFamily="34" charset="0"/>
                <a:cs typeface="Times New Roman" panose="02020603050405020304" pitchFamily="18" charset="0"/>
              </a:rPr>
              <a:t>Paramatmuni</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Sahith Siddharth, </a:t>
            </a:r>
            <a:r>
              <a:rPr lang="en-IN" kern="100" dirty="0" err="1">
                <a:effectLst/>
                <a:latin typeface="Times New Roman" panose="02020603050405020304" pitchFamily="18" charset="0"/>
                <a:ea typeface="Calibri" panose="020F0502020204030204" pitchFamily="34" charset="0"/>
                <a:cs typeface="Times New Roman" panose="02020603050405020304" pitchFamily="18" charset="0"/>
              </a:rPr>
              <a:t>Dumpala</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Yashwanth Reddy, </a:t>
            </a:r>
            <a:r>
              <a:rPr lang="en-IN" kern="100" dirty="0" err="1">
                <a:effectLst/>
                <a:latin typeface="Times New Roman" panose="02020603050405020304" pitchFamily="18" charset="0"/>
                <a:ea typeface="Calibri" panose="020F0502020204030204" pitchFamily="34" charset="0"/>
                <a:cs typeface="Times New Roman" panose="02020603050405020304" pitchFamily="18" charset="0"/>
              </a:rPr>
              <a:t>Elakurthi</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Sai Spoorthi, Akhil Dharani, and K. Venkatesh Sharma. "Smart Timetable Generation using Genetic </a:t>
            </a:r>
            <a:r>
              <a:rPr lang="en-IN" kern="100" dirty="0" err="1">
                <a:effectLst/>
                <a:latin typeface="Times New Roman" panose="02020603050405020304" pitchFamily="18" charset="0"/>
                <a:ea typeface="Calibri" panose="020F0502020204030204" pitchFamily="34" charset="0"/>
                <a:cs typeface="Times New Roman" panose="02020603050405020304" pitchFamily="18" charset="0"/>
              </a:rPr>
              <a:t>Algorithm."</a:t>
            </a:r>
            <a:r>
              <a:rPr lang="en-IN" i="1" kern="100" dirty="0" err="1">
                <a:effectLst/>
                <a:latin typeface="Times New Roman" panose="02020603050405020304" pitchFamily="18" charset="0"/>
                <a:ea typeface="Calibri" panose="020F0502020204030204" pitchFamily="34" charset="0"/>
                <a:cs typeface="Times New Roman" panose="02020603050405020304" pitchFamily="18" charset="0"/>
              </a:rPr>
              <a:t>Macaw</a:t>
            </a:r>
            <a:r>
              <a:rPr lang="en-IN" i="1" kern="100" dirty="0">
                <a:effectLst/>
                <a:latin typeface="Times New Roman" panose="02020603050405020304" pitchFamily="18" charset="0"/>
                <a:ea typeface="Calibri" panose="020F0502020204030204" pitchFamily="34" charset="0"/>
                <a:cs typeface="Times New Roman" panose="02020603050405020304" pitchFamily="18" charset="0"/>
              </a:rPr>
              <a:t> International Journal of Advanced Research in Computer Science and Engineering</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10, no. 1s (2024): 204-215.</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indent="-457200" algn="just">
              <a:lnSpc>
                <a:spcPct val="150000"/>
              </a:lnSpc>
              <a:spcAft>
                <a:spcPts val="800"/>
              </a:spcAft>
            </a:pPr>
            <a:r>
              <a:rPr lang="en-IN" kern="100" dirty="0">
                <a:effectLst/>
                <a:latin typeface="Calibri" panose="020F0502020204030204" pitchFamily="34" charset="0"/>
                <a:ea typeface="Calibri" panose="020F0502020204030204" pitchFamily="34" charset="0"/>
                <a:cs typeface="Times New Roman" panose="02020603050405020304" pitchFamily="18" charset="0"/>
              </a:rPr>
              <a:t>	</a:t>
            </a:r>
            <a:r>
              <a:rPr lang="en-IN" dirty="0">
                <a:effectLst/>
                <a:latin typeface="Times New Roman" panose="02020603050405020304" pitchFamily="18" charset="0"/>
                <a:ea typeface="Calibri" panose="020F0502020204030204" pitchFamily="34" charset="0"/>
              </a:rPr>
              <a:t>Gore, </a:t>
            </a:r>
            <a:r>
              <a:rPr lang="en-IN" dirty="0" err="1">
                <a:effectLst/>
                <a:latin typeface="Times New Roman" panose="02020603050405020304" pitchFamily="18" charset="0"/>
                <a:ea typeface="Calibri" panose="020F0502020204030204" pitchFamily="34" charset="0"/>
              </a:rPr>
              <a:t>Bhaven</a:t>
            </a:r>
            <a:r>
              <a:rPr lang="en-IN" dirty="0">
                <a:effectLst/>
                <a:latin typeface="Times New Roman" panose="02020603050405020304" pitchFamily="18" charset="0"/>
                <a:ea typeface="Calibri" panose="020F0502020204030204" pitchFamily="34" charset="0"/>
              </a:rPr>
              <a:t>, Disha </a:t>
            </a:r>
            <a:r>
              <a:rPr lang="en-IN" dirty="0" err="1">
                <a:effectLst/>
                <a:latin typeface="Times New Roman" panose="02020603050405020304" pitchFamily="18" charset="0"/>
                <a:ea typeface="Calibri" panose="020F0502020204030204" pitchFamily="34" charset="0"/>
              </a:rPr>
              <a:t>Shirdhankar</a:t>
            </a:r>
            <a:r>
              <a:rPr lang="en-IN" dirty="0">
                <a:effectLst/>
                <a:latin typeface="Times New Roman" panose="02020603050405020304" pitchFamily="18" charset="0"/>
                <a:ea typeface="Calibri" panose="020F0502020204030204" pitchFamily="34" charset="0"/>
              </a:rPr>
              <a:t>, and Giriraj </a:t>
            </a:r>
            <a:r>
              <a:rPr lang="en-IN" dirty="0" err="1">
                <a:effectLst/>
                <a:latin typeface="Times New Roman" panose="02020603050405020304" pitchFamily="18" charset="0"/>
                <a:ea typeface="Calibri" panose="020F0502020204030204" pitchFamily="34" charset="0"/>
              </a:rPr>
              <a:t>Belanekar</a:t>
            </a:r>
            <a:r>
              <a:rPr lang="en-IN" dirty="0">
                <a:effectLst/>
                <a:latin typeface="Times New Roman" panose="02020603050405020304" pitchFamily="18" charset="0"/>
                <a:ea typeface="Calibri" panose="020F0502020204030204" pitchFamily="34" charset="0"/>
              </a:rPr>
              <a:t>. "Institute Timetable Scheduler." </a:t>
            </a:r>
            <a:r>
              <a:rPr lang="en-IN" i="1" dirty="0">
                <a:effectLst/>
                <a:latin typeface="Times New Roman" panose="02020603050405020304" pitchFamily="18" charset="0"/>
                <a:ea typeface="Calibri" panose="020F0502020204030204" pitchFamily="34" charset="0"/>
              </a:rPr>
              <a:t>International Research Journal of Engineering and Technology (IRJET)</a:t>
            </a:r>
            <a:r>
              <a:rPr lang="en-IN" dirty="0">
                <a:effectLst/>
                <a:latin typeface="Times New Roman" panose="02020603050405020304" pitchFamily="18" charset="0"/>
                <a:ea typeface="Calibri" panose="020F0502020204030204" pitchFamily="34" charset="0"/>
              </a:rPr>
              <a:t> Volume: 07 Issue: 08 Aug 2020 (2020).</a:t>
            </a:r>
          </a:p>
          <a:p>
            <a:pPr marL="457200" indent="-457200" algn="just">
              <a:lnSpc>
                <a:spcPct val="150000"/>
              </a:lnSpc>
              <a:spcAft>
                <a:spcPts val="800"/>
              </a:spcAft>
            </a:pPr>
            <a:r>
              <a:rPr lang="en-IN" dirty="0">
                <a:effectLst/>
                <a:latin typeface="Times New Roman" panose="02020603050405020304" pitchFamily="18" charset="0"/>
                <a:ea typeface="Calibri" panose="020F0502020204030204" pitchFamily="34" charset="0"/>
              </a:rPr>
              <a:t>	</a:t>
            </a:r>
            <a:r>
              <a:rPr lang="en-IN" dirty="0" err="1">
                <a:effectLst/>
                <a:latin typeface="Times New Roman" panose="02020603050405020304" pitchFamily="18" charset="0"/>
                <a:ea typeface="Calibri" panose="020F0502020204030204" pitchFamily="34" charset="0"/>
              </a:rPr>
              <a:t>Alnowaini</a:t>
            </a:r>
            <a:r>
              <a:rPr lang="en-IN" dirty="0">
                <a:effectLst/>
                <a:latin typeface="Times New Roman" panose="02020603050405020304" pitchFamily="18" charset="0"/>
                <a:ea typeface="Calibri" panose="020F0502020204030204" pitchFamily="34" charset="0"/>
              </a:rPr>
              <a:t>, Ghazi, and Amjad Abdullah </a:t>
            </a:r>
            <a:r>
              <a:rPr lang="en-IN" dirty="0" err="1">
                <a:effectLst/>
                <a:latin typeface="Times New Roman" panose="02020603050405020304" pitchFamily="18" charset="0"/>
                <a:ea typeface="Calibri" panose="020F0502020204030204" pitchFamily="34" charset="0"/>
              </a:rPr>
              <a:t>Aljomai</a:t>
            </a:r>
            <a:r>
              <a:rPr lang="en-IN" dirty="0">
                <a:effectLst/>
                <a:latin typeface="Times New Roman" panose="02020603050405020304" pitchFamily="18" charset="0"/>
                <a:ea typeface="Calibri" panose="020F0502020204030204" pitchFamily="34" charset="0"/>
              </a:rPr>
              <a:t>. "Genetic algorithm for solving university course timetabling problem using dynamic chromosomes." In </a:t>
            </a:r>
            <a:r>
              <a:rPr lang="en-IN" i="1" dirty="0">
                <a:effectLst/>
                <a:latin typeface="Times New Roman" panose="02020603050405020304" pitchFamily="18" charset="0"/>
                <a:ea typeface="Calibri" panose="020F0502020204030204" pitchFamily="34" charset="0"/>
              </a:rPr>
              <a:t>2021 International Conference of Technology, Science and Administration (ICTSA)</a:t>
            </a:r>
            <a:r>
              <a:rPr lang="en-IN" dirty="0">
                <a:effectLst/>
                <a:latin typeface="Times New Roman" panose="02020603050405020304" pitchFamily="18" charset="0"/>
                <a:ea typeface="Calibri" panose="020F0502020204030204" pitchFamily="34" charset="0"/>
              </a:rPr>
              <a:t>, pp. 1-6. IEEE, 2021.</a:t>
            </a:r>
            <a:endParaRPr lang="en-IN" dirty="0">
              <a:latin typeface="Times New Roman" panose="02020603050405020304" pitchFamily="18" charset="0"/>
              <a:ea typeface="Calibri" panose="020F0502020204030204" pitchFamily="34" charset="0"/>
            </a:endParaRPr>
          </a:p>
          <a:p>
            <a:pPr algn="just"/>
            <a:endParaRPr lang="en-IN" sz="1600" dirty="0"/>
          </a:p>
        </p:txBody>
      </p:sp>
    </p:spTree>
    <p:extLst>
      <p:ext uri="{BB962C8B-B14F-4D97-AF65-F5344CB8AC3E}">
        <p14:creationId xmlns:p14="http://schemas.microsoft.com/office/powerpoint/2010/main" val="83016527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1235</TotalTime>
  <Words>1448</Words>
  <Application>Microsoft Office PowerPoint</Application>
  <PresentationFormat>Widescreen</PresentationFormat>
  <Paragraphs>143</Paragraphs>
  <Slides>14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Times New Roman</vt:lpstr>
      <vt:lpstr>Wingdings</vt:lpstr>
      <vt:lpstr>Office Theme</vt:lpstr>
      <vt:lpstr>PowerPoint Presentation</vt:lpstr>
      <vt:lpstr>Problem Statement</vt:lpstr>
      <vt:lpstr>Existing solution</vt:lpstr>
      <vt:lpstr>Proposed Solution</vt:lpstr>
      <vt:lpstr>Technology Used</vt:lpstr>
      <vt:lpstr>Requirements</vt:lpstr>
      <vt:lpstr>Literature Review</vt:lpstr>
      <vt:lpstr>Literature Review</vt:lpstr>
      <vt:lpstr>Literature Review</vt:lpstr>
      <vt:lpstr>Literature Review</vt:lpstr>
      <vt:lpstr>Literature Review</vt:lpstr>
      <vt:lpstr>Conclusion</vt:lpstr>
      <vt:lpstr>References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PRAPTHI J P;Gaurav Alva</dc:creator>
  <cp:lastModifiedBy>Gaurav Alva</cp:lastModifiedBy>
  <cp:revision>30</cp:revision>
  <dcterms:created xsi:type="dcterms:W3CDTF">2024-10-02T16:51:19Z</dcterms:created>
  <dcterms:modified xsi:type="dcterms:W3CDTF">2025-05-20T13:33:58Z</dcterms:modified>
</cp:coreProperties>
</file>