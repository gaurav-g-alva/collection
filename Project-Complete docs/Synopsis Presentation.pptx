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19"/>
  </p:notesMasterIdLst>
  <p:sldIdLst>
    <p:sldId id="256" r:id="rId2"/>
    <p:sldId id="266" r:id="rId3"/>
    <p:sldId id="257" r:id="rId4"/>
    <p:sldId id="269" r:id="rId5"/>
    <p:sldId id="259" r:id="rId6"/>
    <p:sldId id="264" r:id="rId7"/>
    <p:sldId id="261" r:id="rId8"/>
    <p:sldId id="260" r:id="rId9"/>
    <p:sldId id="265" r:id="rId10"/>
    <p:sldId id="271" r:id="rId11"/>
    <p:sldId id="275" r:id="rId12"/>
    <p:sldId id="274" r:id="rId13"/>
    <p:sldId id="272" r:id="rId14"/>
    <p:sldId id="273" r:id="rId15"/>
    <p:sldId id="262" r:id="rId16"/>
    <p:sldId id="270" r:id="rId17"/>
    <p:sldId id="268"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5757"/>
    <a:srgbClr val="FEF9E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2418" autoAdjust="0"/>
  </p:normalViewPr>
  <p:slideViewPr>
    <p:cSldViewPr snapToGrid="0">
      <p:cViewPr>
        <p:scale>
          <a:sx n="66" d="100"/>
          <a:sy n="66" d="100"/>
        </p:scale>
        <p:origin x="600" y="2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BD07C2-A8D5-442F-93E7-71925FF71000}" type="datetimeFigureOut">
              <a:rPr lang="en-IN" smtClean="0"/>
              <a:t>08-01-2026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12FC62F-66EE-4F31-9BCD-675275CDC678}" type="slidenum">
              <a:rPr lang="en-IN" smtClean="0"/>
              <a:t>‹#›</a:t>
            </a:fld>
            <a:endParaRPr lang="en-IN"/>
          </a:p>
        </p:txBody>
      </p:sp>
    </p:spTree>
    <p:extLst>
      <p:ext uri="{BB962C8B-B14F-4D97-AF65-F5344CB8AC3E}">
        <p14:creationId xmlns:p14="http://schemas.microsoft.com/office/powerpoint/2010/main" val="2817238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312FC62F-66EE-4F31-9BCD-675275CDC678}" type="slidenum">
              <a:rPr lang="en-IN" smtClean="0"/>
              <a:t>1</a:t>
            </a:fld>
            <a:endParaRPr lang="en-IN"/>
          </a:p>
        </p:txBody>
      </p:sp>
    </p:spTree>
    <p:extLst>
      <p:ext uri="{BB962C8B-B14F-4D97-AF65-F5344CB8AC3E}">
        <p14:creationId xmlns:p14="http://schemas.microsoft.com/office/powerpoint/2010/main" val="24128084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3FE507B-74E9-434B-B589-61639C269BD2}" type="datetime1">
              <a:rPr lang="en-IN" smtClean="0"/>
              <a:t>08-01-2026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3296917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2C27CEE-AECC-488D-B081-6669003DE492}" type="datetime1">
              <a:rPr lang="en-IN" smtClean="0"/>
              <a:t>08-01-2026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28424191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907550-43C7-482D-BA34-265D3A59D17F}" type="datetime1">
              <a:rPr lang="en-IN" smtClean="0"/>
              <a:t>08-01-2026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4204701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4D77DB3-F920-470E-B309-869FDF9C0108}" type="datetime1">
              <a:rPr lang="en-IN" smtClean="0"/>
              <a:t>08-01-2026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3459163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45A2ED-077A-4579-A46A-43231F0F597B}" type="datetime1">
              <a:rPr lang="en-IN" smtClean="0"/>
              <a:t>08-01-2026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1461007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5FFD98-AA31-4581-BF2A-5A2077300591}" type="datetime1">
              <a:rPr lang="en-IN" smtClean="0"/>
              <a:t>08-01-2026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12162281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058E697-6A5A-41D6-A5BF-DF6DC04A6DFC}" type="datetime1">
              <a:rPr lang="en-IN" smtClean="0"/>
              <a:t>08-01-2026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29916767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6822B0A-2DE6-43ED-9578-1137B94F3B65}" type="datetime1">
              <a:rPr lang="en-IN" smtClean="0"/>
              <a:t>08-01-2026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2635980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781F493-348F-40BE-912D-787DF7E33694}" type="datetime1">
              <a:rPr lang="en-IN" smtClean="0"/>
              <a:t>08-01-2026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910707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DF852E4-941D-4D93-8BE7-96DFDEB218D4}" type="datetime1">
              <a:rPr lang="en-IN" smtClean="0"/>
              <a:t>08-01-2026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4254765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713C6D0-628E-4C8C-B674-0FC5911BFD3F}" type="datetime1">
              <a:rPr lang="en-IN" smtClean="0"/>
              <a:t>08-01-2026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19EB42E-18EF-4ADA-8D91-F15AD1AFC8DD}" type="slidenum">
              <a:rPr lang="en-IN" smtClean="0"/>
              <a:t>‹#›</a:t>
            </a:fld>
            <a:endParaRPr lang="en-IN"/>
          </a:p>
        </p:txBody>
      </p:sp>
    </p:spTree>
    <p:extLst>
      <p:ext uri="{BB962C8B-B14F-4D97-AF65-F5344CB8AC3E}">
        <p14:creationId xmlns:p14="http://schemas.microsoft.com/office/powerpoint/2010/main" val="23643396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EF9E8">
            <a:alpha val="51000"/>
          </a:srgb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96BE42-94BA-4EFF-BD05-5C4A4AD389AE}" type="datetime1">
              <a:rPr lang="en-IN" smtClean="0"/>
              <a:t>08-01-2026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19EB42E-18EF-4ADA-8D91-F15AD1AFC8DD}" type="slidenum">
              <a:rPr lang="en-IN" smtClean="0"/>
              <a:t>‹#›</a:t>
            </a:fld>
            <a:endParaRPr lang="en-IN"/>
          </a:p>
        </p:txBody>
      </p:sp>
    </p:spTree>
    <p:extLst>
      <p:ext uri="{BB962C8B-B14F-4D97-AF65-F5344CB8AC3E}">
        <p14:creationId xmlns:p14="http://schemas.microsoft.com/office/powerpoint/2010/main" val="3179794846"/>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4D8AADF-1384-5E5D-54C7-58173DFA7F41}"/>
              </a:ext>
            </a:extLst>
          </p:cNvPr>
          <p:cNvSpPr txBox="1"/>
          <p:nvPr/>
        </p:nvSpPr>
        <p:spPr>
          <a:xfrm>
            <a:off x="974663" y="4878035"/>
            <a:ext cx="3601713" cy="707886"/>
          </a:xfrm>
          <a:prstGeom prst="rect">
            <a:avLst/>
          </a:prstGeom>
          <a:noFill/>
        </p:spPr>
        <p:txBody>
          <a:bodyPr wrap="square" rtlCol="0">
            <a:spAutoFit/>
          </a:bodyPr>
          <a:lstStyle/>
          <a:p>
            <a:r>
              <a:rPr lang="en-IN" sz="2000" dirty="0">
                <a:latin typeface="Times New Roman" panose="02020603050405020304" pitchFamily="18" charset="0"/>
                <a:cs typeface="Times New Roman" panose="02020603050405020304" pitchFamily="18" charset="0"/>
              </a:rPr>
              <a:t>Presented by :     </a:t>
            </a:r>
            <a:r>
              <a:rPr lang="en-IN" sz="2000" b="1" dirty="0">
                <a:latin typeface="Times New Roman" panose="02020603050405020304" pitchFamily="18" charset="0"/>
                <a:cs typeface="Times New Roman" panose="02020603050405020304" pitchFamily="18" charset="0"/>
              </a:rPr>
              <a:t>Gaurav G Alva</a:t>
            </a:r>
          </a:p>
          <a:p>
            <a:r>
              <a:rPr lang="en-IN" sz="2000" b="1" dirty="0">
                <a:latin typeface="Times New Roman" panose="02020603050405020304" pitchFamily="18" charset="0"/>
                <a:cs typeface="Times New Roman" panose="02020603050405020304" pitchFamily="18" charset="0"/>
              </a:rPr>
              <a:t>				4VP22CD019</a:t>
            </a:r>
          </a:p>
        </p:txBody>
      </p:sp>
      <p:sp>
        <p:nvSpPr>
          <p:cNvPr id="5" name="TextBox 4">
            <a:extLst>
              <a:ext uri="{FF2B5EF4-FFF2-40B4-BE49-F238E27FC236}">
                <a16:creationId xmlns:a16="http://schemas.microsoft.com/office/drawing/2014/main" id="{6D0A22EF-D4A6-42F0-A270-4C7DE2FE546A}"/>
              </a:ext>
            </a:extLst>
          </p:cNvPr>
          <p:cNvSpPr txBox="1"/>
          <p:nvPr/>
        </p:nvSpPr>
        <p:spPr>
          <a:xfrm>
            <a:off x="4913043" y="4877296"/>
            <a:ext cx="1903732" cy="707886"/>
          </a:xfrm>
          <a:prstGeom prst="rect">
            <a:avLst/>
          </a:prstGeom>
          <a:noFill/>
        </p:spPr>
        <p:txBody>
          <a:bodyPr wrap="square" rtlCol="0">
            <a:spAutoFit/>
          </a:bodyPr>
          <a:lstStyle/>
          <a:p>
            <a:r>
              <a:rPr lang="en-IN" sz="2000" b="1" dirty="0">
                <a:latin typeface="Times New Roman" panose="02020603050405020304" pitchFamily="18" charset="0"/>
                <a:cs typeface="Times New Roman" panose="02020603050405020304" pitchFamily="18" charset="0"/>
              </a:rPr>
              <a:t>Harshit M Naik</a:t>
            </a:r>
          </a:p>
          <a:p>
            <a:r>
              <a:rPr lang="en-IN" sz="2000" b="1" dirty="0">
                <a:latin typeface="Times New Roman" panose="02020603050405020304" pitchFamily="18" charset="0"/>
                <a:cs typeface="Times New Roman" panose="02020603050405020304" pitchFamily="18" charset="0"/>
              </a:rPr>
              <a:t>4VP22CD022</a:t>
            </a:r>
          </a:p>
        </p:txBody>
      </p:sp>
      <p:sp>
        <p:nvSpPr>
          <p:cNvPr id="6" name="TextBox 5">
            <a:extLst>
              <a:ext uri="{FF2B5EF4-FFF2-40B4-BE49-F238E27FC236}">
                <a16:creationId xmlns:a16="http://schemas.microsoft.com/office/drawing/2014/main" id="{DDCCEB71-47FB-90E4-6EDE-2BDCE09D2AB2}"/>
              </a:ext>
            </a:extLst>
          </p:cNvPr>
          <p:cNvSpPr txBox="1"/>
          <p:nvPr/>
        </p:nvSpPr>
        <p:spPr>
          <a:xfrm>
            <a:off x="7220973" y="4877296"/>
            <a:ext cx="1903732" cy="707886"/>
          </a:xfrm>
          <a:prstGeom prst="rect">
            <a:avLst/>
          </a:prstGeom>
          <a:noFill/>
        </p:spPr>
        <p:txBody>
          <a:bodyPr wrap="square" rtlCol="0">
            <a:spAutoFit/>
          </a:bodyPr>
          <a:lstStyle/>
          <a:p>
            <a:r>
              <a:rPr lang="en-IN" sz="2000" b="1" dirty="0">
                <a:latin typeface="Times New Roman" panose="02020603050405020304" pitchFamily="18" charset="0"/>
                <a:cs typeface="Times New Roman" panose="02020603050405020304" pitchFamily="18" charset="0"/>
              </a:rPr>
              <a:t>Prapthi J P</a:t>
            </a:r>
          </a:p>
          <a:p>
            <a:r>
              <a:rPr lang="en-IN" sz="2000" b="1" dirty="0">
                <a:latin typeface="Times New Roman" panose="02020603050405020304" pitchFamily="18" charset="0"/>
                <a:cs typeface="Times New Roman" panose="02020603050405020304" pitchFamily="18" charset="0"/>
              </a:rPr>
              <a:t>4VP22CD037</a:t>
            </a:r>
          </a:p>
        </p:txBody>
      </p:sp>
      <p:sp>
        <p:nvSpPr>
          <p:cNvPr id="26" name="object 8">
            <a:extLst>
              <a:ext uri="{FF2B5EF4-FFF2-40B4-BE49-F238E27FC236}">
                <a16:creationId xmlns:a16="http://schemas.microsoft.com/office/drawing/2014/main" id="{52358E10-7AEB-C3C2-CE92-5CEBE785DBEA}"/>
              </a:ext>
            </a:extLst>
          </p:cNvPr>
          <p:cNvSpPr txBox="1"/>
          <p:nvPr/>
        </p:nvSpPr>
        <p:spPr>
          <a:xfrm>
            <a:off x="1020021" y="2809174"/>
            <a:ext cx="10142202" cy="1500411"/>
          </a:xfrm>
          <a:prstGeom prst="rect">
            <a:avLst/>
          </a:prstGeom>
        </p:spPr>
        <p:txBody>
          <a:bodyPr vert="horz" wrap="square" lIns="0" tIns="14478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065" marR="5080" algn="ctr">
              <a:spcBef>
                <a:spcPts val="1140"/>
              </a:spcBef>
            </a:pPr>
            <a:r>
              <a:rPr lang="en-US" sz="4400" b="1" dirty="0">
                <a:solidFill>
                  <a:schemeClr val="accent1">
                    <a:lumMod val="75000"/>
                  </a:schemeClr>
                </a:solidFill>
                <a:latin typeface="Times New Roman" panose="02020603050405020304" pitchFamily="18" charset="0"/>
                <a:cs typeface="Times New Roman" panose="02020603050405020304" pitchFamily="18" charset="0"/>
              </a:rPr>
              <a:t>W</a:t>
            </a:r>
            <a:r>
              <a:rPr lang="en-IN" sz="4400" b="1" dirty="0" err="1">
                <a:solidFill>
                  <a:schemeClr val="accent1">
                    <a:lumMod val="75000"/>
                  </a:schemeClr>
                </a:solidFill>
                <a:latin typeface="Times New Roman" panose="02020603050405020304" pitchFamily="18" charset="0"/>
                <a:cs typeface="Times New Roman" panose="02020603050405020304" pitchFamily="18" charset="0"/>
              </a:rPr>
              <a:t>eb</a:t>
            </a:r>
            <a:r>
              <a:rPr lang="en-IN" sz="4400" b="1" dirty="0">
                <a:solidFill>
                  <a:schemeClr val="accent1">
                    <a:lumMod val="75000"/>
                  </a:schemeClr>
                </a:solidFill>
                <a:latin typeface="Times New Roman" panose="02020603050405020304" pitchFamily="18" charset="0"/>
                <a:cs typeface="Times New Roman" panose="02020603050405020304" pitchFamily="18" charset="0"/>
              </a:rPr>
              <a:t>-Based Automatic Timetable Scheduler for Colleges</a:t>
            </a:r>
            <a:endParaRPr lang="en-US" sz="4400" b="1" dirty="0">
              <a:solidFill>
                <a:schemeClr val="accent1">
                  <a:lumMod val="75000"/>
                </a:schemeClr>
              </a:solidFill>
            </a:endParaRPr>
          </a:p>
        </p:txBody>
      </p:sp>
      <p:sp>
        <p:nvSpPr>
          <p:cNvPr id="28" name="object 10">
            <a:extLst>
              <a:ext uri="{FF2B5EF4-FFF2-40B4-BE49-F238E27FC236}">
                <a16:creationId xmlns:a16="http://schemas.microsoft.com/office/drawing/2014/main" id="{2B59AC69-40B9-F452-4281-97020A55DC03}"/>
              </a:ext>
            </a:extLst>
          </p:cNvPr>
          <p:cNvSpPr txBox="1"/>
          <p:nvPr/>
        </p:nvSpPr>
        <p:spPr>
          <a:xfrm>
            <a:off x="2142539" y="2242769"/>
            <a:ext cx="7897167" cy="507831"/>
          </a:xfrm>
          <a:prstGeom prst="rect">
            <a:avLst/>
          </a:prstGeom>
        </p:spPr>
        <p:txBody>
          <a:bodyPr vert="horz" wrap="square" lIns="0" tIns="1524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2700" algn="ctr">
              <a:lnSpc>
                <a:spcPct val="100000"/>
              </a:lnSpc>
              <a:spcBef>
                <a:spcPts val="120"/>
              </a:spcBef>
            </a:pPr>
            <a:r>
              <a:rPr lang="en-US" sz="3200" b="1" spc="-15" dirty="0">
                <a:solidFill>
                  <a:srgbClr val="2B2B2B"/>
                </a:solidFill>
                <a:latin typeface="Times New Roman" panose="02020603050405020304" pitchFamily="18" charset="0"/>
                <a:cs typeface="Times New Roman" panose="02020603050405020304" pitchFamily="18" charset="0"/>
              </a:rPr>
              <a:t>Project Phase I </a:t>
            </a:r>
            <a:r>
              <a:rPr lang="en-US" sz="3200" b="1" spc="-35" dirty="0">
                <a:solidFill>
                  <a:srgbClr val="2B2B2B"/>
                </a:solidFill>
                <a:latin typeface="Times New Roman" panose="02020603050405020304" pitchFamily="18" charset="0"/>
                <a:cs typeface="Times New Roman" panose="02020603050405020304" pitchFamily="18" charset="0"/>
              </a:rPr>
              <a:t>Presentation </a:t>
            </a:r>
            <a:r>
              <a:rPr sz="3200" b="1" spc="-85" dirty="0">
                <a:solidFill>
                  <a:srgbClr val="2B2B2B"/>
                </a:solidFill>
                <a:latin typeface="Times New Roman" panose="02020603050405020304" pitchFamily="18" charset="0"/>
                <a:cs typeface="Times New Roman" panose="02020603050405020304" pitchFamily="18" charset="0"/>
              </a:rPr>
              <a:t> </a:t>
            </a:r>
            <a:r>
              <a:rPr sz="3200" b="1" dirty="0">
                <a:solidFill>
                  <a:srgbClr val="2B2B2B"/>
                </a:solidFill>
                <a:latin typeface="Times New Roman" panose="02020603050405020304" pitchFamily="18" charset="0"/>
                <a:cs typeface="Times New Roman" panose="02020603050405020304" pitchFamily="18" charset="0"/>
              </a:rPr>
              <a:t>on</a:t>
            </a:r>
            <a:endParaRPr sz="3200" b="1" dirty="0">
              <a:latin typeface="Times New Roman" panose="02020603050405020304" pitchFamily="18" charset="0"/>
              <a:cs typeface="Times New Roman" panose="02020603050405020304" pitchFamily="18" charset="0"/>
            </a:endParaRPr>
          </a:p>
        </p:txBody>
      </p:sp>
      <p:sp>
        <p:nvSpPr>
          <p:cNvPr id="34" name="TextBox 33">
            <a:extLst>
              <a:ext uri="{FF2B5EF4-FFF2-40B4-BE49-F238E27FC236}">
                <a16:creationId xmlns:a16="http://schemas.microsoft.com/office/drawing/2014/main" id="{47787D74-FF06-E8CE-9816-A4DA4666D328}"/>
              </a:ext>
            </a:extLst>
          </p:cNvPr>
          <p:cNvSpPr txBox="1"/>
          <p:nvPr/>
        </p:nvSpPr>
        <p:spPr>
          <a:xfrm>
            <a:off x="977121" y="5853040"/>
            <a:ext cx="3599255" cy="400110"/>
          </a:xfrm>
          <a:prstGeom prst="rect">
            <a:avLst/>
          </a:prstGeom>
          <a:noFill/>
        </p:spPr>
        <p:txBody>
          <a:bodyPr wrap="none" rtlCol="0">
            <a:spAutoFit/>
          </a:bodyPr>
          <a:lstStyle/>
          <a:p>
            <a:r>
              <a:rPr lang="en-US" sz="2000" dirty="0">
                <a:latin typeface="Times New Roman" panose="02020603050405020304" pitchFamily="18" charset="0"/>
                <a:cs typeface="Times New Roman" panose="02020603050405020304" pitchFamily="18" charset="0"/>
              </a:rPr>
              <a:t>Guided by : </a:t>
            </a:r>
            <a:r>
              <a:rPr lang="en-US" sz="2000" b="1" dirty="0">
                <a:latin typeface="Times New Roman" panose="02020603050405020304" pitchFamily="18" charset="0"/>
                <a:cs typeface="Times New Roman" panose="02020603050405020304" pitchFamily="18" charset="0"/>
              </a:rPr>
              <a:t>Prof. Chaithanya D</a:t>
            </a:r>
            <a:endParaRPr lang="en-IN" sz="2000" b="1" dirty="0">
              <a:latin typeface="Times New Roman" panose="02020603050405020304" pitchFamily="18" charset="0"/>
              <a:cs typeface="Times New Roman" panose="02020603050405020304" pitchFamily="18" charset="0"/>
            </a:endParaRPr>
          </a:p>
        </p:txBody>
      </p:sp>
      <p:sp>
        <p:nvSpPr>
          <p:cNvPr id="9" name="Slide Number Placeholder 8">
            <a:extLst>
              <a:ext uri="{FF2B5EF4-FFF2-40B4-BE49-F238E27FC236}">
                <a16:creationId xmlns:a16="http://schemas.microsoft.com/office/drawing/2014/main" id="{92312360-A111-92A1-C902-F8DEEBD7B38B}"/>
              </a:ext>
            </a:extLst>
          </p:cNvPr>
          <p:cNvSpPr>
            <a:spLocks noGrp="1"/>
          </p:cNvSpPr>
          <p:nvPr>
            <p:ph type="sldNum" sz="quarter" idx="12"/>
          </p:nvPr>
        </p:nvSpPr>
        <p:spPr/>
        <p:txBody>
          <a:bodyPr/>
          <a:lstStyle/>
          <a:p>
            <a:fld id="{D19EB42E-18EF-4ADA-8D91-F15AD1AFC8DD}" type="slidenum">
              <a:rPr lang="en-IN" smtClean="0"/>
              <a:t>1</a:t>
            </a:fld>
            <a:endParaRPr lang="en-IN" dirty="0"/>
          </a:p>
        </p:txBody>
      </p:sp>
      <p:pic>
        <p:nvPicPr>
          <p:cNvPr id="3" name="Picture 2">
            <a:extLst>
              <a:ext uri="{FF2B5EF4-FFF2-40B4-BE49-F238E27FC236}">
                <a16:creationId xmlns:a16="http://schemas.microsoft.com/office/drawing/2014/main" id="{663AB55B-55D4-9683-D0F5-193F00A70B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85593" y="196188"/>
            <a:ext cx="1076630" cy="1076630"/>
          </a:xfrm>
          <a:prstGeom prst="rect">
            <a:avLst/>
          </a:prstGeom>
        </p:spPr>
      </p:pic>
      <p:pic>
        <p:nvPicPr>
          <p:cNvPr id="10" name="Picture 9">
            <a:extLst>
              <a:ext uri="{FF2B5EF4-FFF2-40B4-BE49-F238E27FC236}">
                <a16:creationId xmlns:a16="http://schemas.microsoft.com/office/drawing/2014/main" id="{D1572CC8-04D1-FCE8-863C-0F3894D25FB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0021" y="246767"/>
            <a:ext cx="1537116" cy="1076630"/>
          </a:xfrm>
          <a:prstGeom prst="rect">
            <a:avLst/>
          </a:prstGeom>
        </p:spPr>
      </p:pic>
      <p:sp>
        <p:nvSpPr>
          <p:cNvPr id="11" name="object 5">
            <a:extLst>
              <a:ext uri="{FF2B5EF4-FFF2-40B4-BE49-F238E27FC236}">
                <a16:creationId xmlns:a16="http://schemas.microsoft.com/office/drawing/2014/main" id="{B7CBF8E9-E37A-118A-5084-3AE08104C31A}"/>
              </a:ext>
            </a:extLst>
          </p:cNvPr>
          <p:cNvSpPr txBox="1">
            <a:spLocks/>
          </p:cNvSpPr>
          <p:nvPr/>
        </p:nvSpPr>
        <p:spPr>
          <a:xfrm>
            <a:off x="351331" y="195029"/>
            <a:ext cx="11534602" cy="380873"/>
          </a:xfrm>
          <a:prstGeom prst="rect">
            <a:avLst/>
          </a:prstGeom>
        </p:spPr>
        <p:txBody>
          <a:bodyPr vert="horz" wrap="square" lIns="0" tIns="11430" rIns="0" bIns="0" rtlCol="0" anchor="b">
            <a:sp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12700">
              <a:lnSpc>
                <a:spcPct val="100000"/>
              </a:lnSpc>
              <a:spcBef>
                <a:spcPts val="90"/>
              </a:spcBef>
            </a:pPr>
            <a:r>
              <a:rPr lang="en-US" sz="2400" b="1" spc="-75" dirty="0">
                <a:solidFill>
                  <a:srgbClr val="FF5757"/>
                </a:solidFill>
                <a:latin typeface="Times New Roman" panose="02020603050405020304" pitchFamily="18" charset="0"/>
                <a:cs typeface="Times New Roman" panose="02020603050405020304" pitchFamily="18" charset="0"/>
              </a:rPr>
              <a:t>Vivekananda</a:t>
            </a:r>
            <a:r>
              <a:rPr lang="en-US" sz="2400" b="1" spc="-105" dirty="0">
                <a:solidFill>
                  <a:srgbClr val="FF5757"/>
                </a:solidFill>
                <a:latin typeface="Times New Roman" panose="02020603050405020304" pitchFamily="18" charset="0"/>
                <a:cs typeface="Times New Roman" panose="02020603050405020304" pitchFamily="18" charset="0"/>
              </a:rPr>
              <a:t> </a:t>
            </a:r>
            <a:r>
              <a:rPr lang="en-US" sz="2400" b="1" spc="-60" dirty="0">
                <a:solidFill>
                  <a:srgbClr val="FF5757"/>
                </a:solidFill>
                <a:latin typeface="Times New Roman" panose="02020603050405020304" pitchFamily="18" charset="0"/>
                <a:cs typeface="Times New Roman" panose="02020603050405020304" pitchFamily="18" charset="0"/>
              </a:rPr>
              <a:t>College</a:t>
            </a:r>
            <a:r>
              <a:rPr lang="en-US" sz="2400" b="1" spc="-105" dirty="0">
                <a:solidFill>
                  <a:srgbClr val="FF5757"/>
                </a:solidFill>
                <a:latin typeface="Times New Roman" panose="02020603050405020304" pitchFamily="18" charset="0"/>
                <a:cs typeface="Times New Roman" panose="02020603050405020304" pitchFamily="18" charset="0"/>
              </a:rPr>
              <a:t> </a:t>
            </a:r>
            <a:r>
              <a:rPr lang="en-US" sz="2400" b="1" spc="90" dirty="0">
                <a:solidFill>
                  <a:srgbClr val="FF5757"/>
                </a:solidFill>
                <a:latin typeface="Times New Roman" panose="02020603050405020304" pitchFamily="18" charset="0"/>
                <a:cs typeface="Times New Roman" panose="02020603050405020304" pitchFamily="18" charset="0"/>
              </a:rPr>
              <a:t>of</a:t>
            </a:r>
            <a:r>
              <a:rPr lang="en-US" sz="2400" b="1" spc="-100" dirty="0">
                <a:solidFill>
                  <a:srgbClr val="FF5757"/>
                </a:solidFill>
                <a:latin typeface="Times New Roman" panose="02020603050405020304" pitchFamily="18" charset="0"/>
                <a:cs typeface="Times New Roman" panose="02020603050405020304" pitchFamily="18" charset="0"/>
              </a:rPr>
              <a:t> </a:t>
            </a:r>
            <a:r>
              <a:rPr lang="en-US" sz="2400" b="1" spc="-60" dirty="0">
                <a:solidFill>
                  <a:srgbClr val="FF5757"/>
                </a:solidFill>
                <a:latin typeface="Times New Roman" panose="02020603050405020304" pitchFamily="18" charset="0"/>
                <a:cs typeface="Times New Roman" panose="02020603050405020304" pitchFamily="18" charset="0"/>
              </a:rPr>
              <a:t>Engineering</a:t>
            </a:r>
            <a:r>
              <a:rPr lang="en-US" sz="2400" b="1" spc="-105" dirty="0">
                <a:solidFill>
                  <a:srgbClr val="FF5757"/>
                </a:solidFill>
                <a:latin typeface="Times New Roman" panose="02020603050405020304" pitchFamily="18" charset="0"/>
                <a:cs typeface="Times New Roman" panose="02020603050405020304" pitchFamily="18" charset="0"/>
              </a:rPr>
              <a:t> </a:t>
            </a:r>
            <a:r>
              <a:rPr lang="en-US" sz="2400" b="1" spc="20" dirty="0">
                <a:solidFill>
                  <a:srgbClr val="FF5757"/>
                </a:solidFill>
                <a:latin typeface="Times New Roman" panose="02020603050405020304" pitchFamily="18" charset="0"/>
                <a:cs typeface="Times New Roman" panose="02020603050405020304" pitchFamily="18" charset="0"/>
              </a:rPr>
              <a:t>&amp;</a:t>
            </a:r>
            <a:r>
              <a:rPr lang="en-US" sz="2400" b="1" spc="-105" dirty="0">
                <a:solidFill>
                  <a:srgbClr val="FF5757"/>
                </a:solidFill>
                <a:latin typeface="Times New Roman" panose="02020603050405020304" pitchFamily="18" charset="0"/>
                <a:cs typeface="Times New Roman" panose="02020603050405020304" pitchFamily="18" charset="0"/>
              </a:rPr>
              <a:t> </a:t>
            </a:r>
            <a:r>
              <a:rPr lang="en-US" sz="2400" b="1" spc="-55" dirty="0">
                <a:solidFill>
                  <a:srgbClr val="FF5757"/>
                </a:solidFill>
                <a:latin typeface="Times New Roman" panose="02020603050405020304" pitchFamily="18" charset="0"/>
                <a:cs typeface="Times New Roman" panose="02020603050405020304" pitchFamily="18" charset="0"/>
              </a:rPr>
              <a:t>Technology</a:t>
            </a:r>
            <a:endParaRPr lang="en-US" sz="2400" b="1" dirty="0">
              <a:latin typeface="Times New Roman" panose="02020603050405020304" pitchFamily="18" charset="0"/>
              <a:cs typeface="Times New Roman" panose="02020603050405020304" pitchFamily="18" charset="0"/>
            </a:endParaRPr>
          </a:p>
        </p:txBody>
      </p:sp>
      <p:sp>
        <p:nvSpPr>
          <p:cNvPr id="12" name="object 6">
            <a:extLst>
              <a:ext uri="{FF2B5EF4-FFF2-40B4-BE49-F238E27FC236}">
                <a16:creationId xmlns:a16="http://schemas.microsoft.com/office/drawing/2014/main" id="{AB001810-DAC0-E6DC-8CD9-64C68AB535DA}"/>
              </a:ext>
            </a:extLst>
          </p:cNvPr>
          <p:cNvSpPr txBox="1"/>
          <p:nvPr/>
        </p:nvSpPr>
        <p:spPr>
          <a:xfrm>
            <a:off x="351330" y="435622"/>
            <a:ext cx="11489340" cy="1125116"/>
          </a:xfrm>
          <a:prstGeom prst="rect">
            <a:avLst/>
          </a:prstGeom>
        </p:spPr>
        <p:txBody>
          <a:bodyPr vert="horz" wrap="square" lIns="0" tIns="62230" rIns="0" bIns="0" rtlCol="0">
            <a:spAutoFit/>
          </a:bodyPr>
          <a:lstStyle/>
          <a:p>
            <a:pPr marL="920115" marR="912495" algn="ctr">
              <a:lnSpc>
                <a:spcPts val="3300"/>
              </a:lnSpc>
              <a:spcBef>
                <a:spcPts val="490"/>
              </a:spcBef>
            </a:pPr>
            <a:r>
              <a:rPr sz="1400" spc="30" dirty="0">
                <a:solidFill>
                  <a:srgbClr val="2B2B2B"/>
                </a:solidFill>
                <a:latin typeface="Times New Roman" panose="02020603050405020304" pitchFamily="18" charset="0"/>
                <a:cs typeface="Times New Roman" panose="02020603050405020304" pitchFamily="18" charset="0"/>
              </a:rPr>
              <a:t>[A</a:t>
            </a:r>
            <a:r>
              <a:rPr sz="1400" spc="-70" dirty="0">
                <a:solidFill>
                  <a:srgbClr val="2B2B2B"/>
                </a:solidFill>
                <a:latin typeface="Times New Roman" panose="02020603050405020304" pitchFamily="18" charset="0"/>
                <a:cs typeface="Times New Roman" panose="02020603050405020304" pitchFamily="18" charset="0"/>
              </a:rPr>
              <a:t> </a:t>
            </a:r>
            <a:r>
              <a:rPr sz="1400" spc="40" dirty="0">
                <a:solidFill>
                  <a:srgbClr val="2B2B2B"/>
                </a:solidFill>
                <a:latin typeface="Times New Roman" panose="02020603050405020304" pitchFamily="18" charset="0"/>
                <a:cs typeface="Times New Roman" panose="02020603050405020304" pitchFamily="18" charset="0"/>
              </a:rPr>
              <a:t>Unit</a:t>
            </a:r>
            <a:r>
              <a:rPr sz="1400" spc="-65" dirty="0">
                <a:solidFill>
                  <a:srgbClr val="2B2B2B"/>
                </a:solidFill>
                <a:latin typeface="Times New Roman" panose="02020603050405020304" pitchFamily="18" charset="0"/>
                <a:cs typeface="Times New Roman" panose="02020603050405020304" pitchFamily="18" charset="0"/>
              </a:rPr>
              <a:t> </a:t>
            </a:r>
            <a:r>
              <a:rPr sz="1400" spc="80" dirty="0">
                <a:solidFill>
                  <a:srgbClr val="2B2B2B"/>
                </a:solidFill>
                <a:latin typeface="Times New Roman" panose="02020603050405020304" pitchFamily="18" charset="0"/>
                <a:cs typeface="Times New Roman" panose="02020603050405020304" pitchFamily="18" charset="0"/>
              </a:rPr>
              <a:t>of</a:t>
            </a:r>
            <a:r>
              <a:rPr sz="1400" spc="-65" dirty="0">
                <a:solidFill>
                  <a:srgbClr val="2B2B2B"/>
                </a:solidFill>
                <a:latin typeface="Times New Roman" panose="02020603050405020304" pitchFamily="18" charset="0"/>
                <a:cs typeface="Times New Roman" panose="02020603050405020304" pitchFamily="18" charset="0"/>
              </a:rPr>
              <a:t> </a:t>
            </a:r>
            <a:r>
              <a:rPr sz="1400" spc="-35" dirty="0">
                <a:solidFill>
                  <a:srgbClr val="2B2B2B"/>
                </a:solidFill>
                <a:latin typeface="Times New Roman" panose="02020603050405020304" pitchFamily="18" charset="0"/>
                <a:cs typeface="Times New Roman" panose="02020603050405020304" pitchFamily="18" charset="0"/>
              </a:rPr>
              <a:t>Vivekananda</a:t>
            </a:r>
            <a:r>
              <a:rPr sz="1400" spc="-70" dirty="0">
                <a:solidFill>
                  <a:srgbClr val="2B2B2B"/>
                </a:solidFill>
                <a:latin typeface="Times New Roman" panose="02020603050405020304" pitchFamily="18" charset="0"/>
                <a:cs typeface="Times New Roman" panose="02020603050405020304" pitchFamily="18" charset="0"/>
              </a:rPr>
              <a:t> </a:t>
            </a:r>
            <a:r>
              <a:rPr sz="1400" spc="-20" dirty="0">
                <a:solidFill>
                  <a:srgbClr val="2B2B2B"/>
                </a:solidFill>
                <a:latin typeface="Times New Roman" panose="02020603050405020304" pitchFamily="18" charset="0"/>
                <a:cs typeface="Times New Roman" panose="02020603050405020304" pitchFamily="18" charset="0"/>
              </a:rPr>
              <a:t>Vidyavardhaka</a:t>
            </a:r>
            <a:r>
              <a:rPr sz="1400" spc="-65" dirty="0">
                <a:solidFill>
                  <a:srgbClr val="2B2B2B"/>
                </a:solidFill>
                <a:latin typeface="Times New Roman" panose="02020603050405020304" pitchFamily="18" charset="0"/>
                <a:cs typeface="Times New Roman" panose="02020603050405020304" pitchFamily="18" charset="0"/>
              </a:rPr>
              <a:t> </a:t>
            </a:r>
            <a:r>
              <a:rPr sz="1400" spc="-120" dirty="0">
                <a:solidFill>
                  <a:srgbClr val="2B2B2B"/>
                </a:solidFill>
                <a:latin typeface="Times New Roman" panose="02020603050405020304" pitchFamily="18" charset="0"/>
                <a:cs typeface="Times New Roman" panose="02020603050405020304" pitchFamily="18" charset="0"/>
              </a:rPr>
              <a:t>Sangha</a:t>
            </a:r>
            <a:r>
              <a:rPr sz="1400" spc="-65" dirty="0">
                <a:solidFill>
                  <a:srgbClr val="2B2B2B"/>
                </a:solidFill>
                <a:latin typeface="Times New Roman" panose="02020603050405020304" pitchFamily="18" charset="0"/>
                <a:cs typeface="Times New Roman" panose="02020603050405020304" pitchFamily="18" charset="0"/>
              </a:rPr>
              <a:t> </a:t>
            </a:r>
            <a:r>
              <a:rPr sz="1400" spc="100" dirty="0">
                <a:solidFill>
                  <a:srgbClr val="2B2B2B"/>
                </a:solidFill>
                <a:latin typeface="Times New Roman" panose="02020603050405020304" pitchFamily="18" charset="0"/>
                <a:cs typeface="Times New Roman" panose="02020603050405020304" pitchFamily="18" charset="0"/>
              </a:rPr>
              <a:t>Puttur®] </a:t>
            </a:r>
            <a:endParaRPr lang="en-US" sz="1400" spc="100" dirty="0">
              <a:solidFill>
                <a:srgbClr val="2B2B2B"/>
              </a:solidFill>
              <a:latin typeface="Times New Roman" panose="02020603050405020304" pitchFamily="18" charset="0"/>
              <a:cs typeface="Times New Roman" panose="02020603050405020304" pitchFamily="18" charset="0"/>
            </a:endParaRPr>
          </a:p>
          <a:p>
            <a:pPr marL="920115" marR="912495" algn="ctr">
              <a:spcBef>
                <a:spcPts val="490"/>
              </a:spcBef>
            </a:pPr>
            <a:r>
              <a:rPr sz="1400" spc="-819" dirty="0">
                <a:solidFill>
                  <a:srgbClr val="2B2B2B"/>
                </a:solidFill>
                <a:latin typeface="Times New Roman" panose="02020603050405020304" pitchFamily="18" charset="0"/>
                <a:cs typeface="Times New Roman" panose="02020603050405020304" pitchFamily="18" charset="0"/>
              </a:rPr>
              <a:t> </a:t>
            </a:r>
            <a:r>
              <a:rPr sz="1400" spc="55" dirty="0">
                <a:solidFill>
                  <a:srgbClr val="5270FF"/>
                </a:solidFill>
                <a:latin typeface="Times New Roman" panose="02020603050405020304" pitchFamily="18" charset="0"/>
                <a:cs typeface="Times New Roman" panose="02020603050405020304" pitchFamily="18" charset="0"/>
              </a:rPr>
              <a:t>Affiliated</a:t>
            </a:r>
            <a:r>
              <a:rPr sz="1400" spc="-70" dirty="0">
                <a:solidFill>
                  <a:srgbClr val="5270FF"/>
                </a:solidFill>
                <a:latin typeface="Times New Roman" panose="02020603050405020304" pitchFamily="18" charset="0"/>
                <a:cs typeface="Times New Roman" panose="02020603050405020304" pitchFamily="18" charset="0"/>
              </a:rPr>
              <a:t> </a:t>
            </a:r>
            <a:r>
              <a:rPr sz="1400" spc="100" dirty="0">
                <a:solidFill>
                  <a:srgbClr val="5270FF"/>
                </a:solidFill>
                <a:latin typeface="Times New Roman" panose="02020603050405020304" pitchFamily="18" charset="0"/>
                <a:cs typeface="Times New Roman" panose="02020603050405020304" pitchFamily="18" charset="0"/>
              </a:rPr>
              <a:t>to</a:t>
            </a:r>
            <a:r>
              <a:rPr sz="1400" spc="-65" dirty="0">
                <a:solidFill>
                  <a:srgbClr val="5270FF"/>
                </a:solidFill>
                <a:latin typeface="Times New Roman" panose="02020603050405020304" pitchFamily="18" charset="0"/>
                <a:cs typeface="Times New Roman" panose="02020603050405020304" pitchFamily="18" charset="0"/>
              </a:rPr>
              <a:t> </a:t>
            </a:r>
            <a:r>
              <a:rPr sz="1400" spc="-70" dirty="0">
                <a:solidFill>
                  <a:srgbClr val="5270FF"/>
                </a:solidFill>
                <a:latin typeface="Times New Roman" panose="02020603050405020304" pitchFamily="18" charset="0"/>
                <a:cs typeface="Times New Roman" panose="02020603050405020304" pitchFamily="18" charset="0"/>
              </a:rPr>
              <a:t>Visvesvaraya</a:t>
            </a:r>
            <a:r>
              <a:rPr sz="1400" spc="-65" dirty="0">
                <a:solidFill>
                  <a:srgbClr val="5270FF"/>
                </a:solidFill>
                <a:latin typeface="Times New Roman" panose="02020603050405020304" pitchFamily="18" charset="0"/>
                <a:cs typeface="Times New Roman" panose="02020603050405020304" pitchFamily="18" charset="0"/>
              </a:rPr>
              <a:t> </a:t>
            </a:r>
            <a:r>
              <a:rPr sz="1400" spc="-15" dirty="0">
                <a:solidFill>
                  <a:srgbClr val="5270FF"/>
                </a:solidFill>
                <a:latin typeface="Times New Roman" panose="02020603050405020304" pitchFamily="18" charset="0"/>
                <a:cs typeface="Times New Roman" panose="02020603050405020304" pitchFamily="18" charset="0"/>
              </a:rPr>
              <a:t>Technological</a:t>
            </a:r>
            <a:r>
              <a:rPr sz="1400" spc="-65" dirty="0">
                <a:solidFill>
                  <a:srgbClr val="5270FF"/>
                </a:solidFill>
                <a:latin typeface="Times New Roman" panose="02020603050405020304" pitchFamily="18" charset="0"/>
                <a:cs typeface="Times New Roman" panose="02020603050405020304" pitchFamily="18" charset="0"/>
              </a:rPr>
              <a:t> </a:t>
            </a:r>
            <a:r>
              <a:rPr sz="1400" dirty="0">
                <a:solidFill>
                  <a:srgbClr val="5270FF"/>
                </a:solidFill>
                <a:latin typeface="Times New Roman" panose="02020603050405020304" pitchFamily="18" charset="0"/>
                <a:cs typeface="Times New Roman" panose="02020603050405020304" pitchFamily="18" charset="0"/>
              </a:rPr>
              <a:t>University</a:t>
            </a:r>
            <a:endParaRPr sz="1400" dirty="0">
              <a:latin typeface="Times New Roman" panose="02020603050405020304" pitchFamily="18" charset="0"/>
              <a:cs typeface="Times New Roman" panose="02020603050405020304" pitchFamily="18" charset="0"/>
            </a:endParaRPr>
          </a:p>
          <a:p>
            <a:pPr algn="ctr">
              <a:lnSpc>
                <a:spcPts val="3315"/>
              </a:lnSpc>
            </a:pPr>
            <a:r>
              <a:rPr sz="1400" dirty="0">
                <a:solidFill>
                  <a:srgbClr val="5270FF"/>
                </a:solidFill>
                <a:latin typeface="Times New Roman" panose="02020603050405020304" pitchFamily="18" charset="0"/>
                <a:cs typeface="Times New Roman" panose="02020603050405020304" pitchFamily="18" charset="0"/>
              </a:rPr>
              <a:t>Approved</a:t>
            </a:r>
            <a:r>
              <a:rPr sz="1400" spc="-70" dirty="0">
                <a:solidFill>
                  <a:srgbClr val="5270FF"/>
                </a:solidFill>
                <a:latin typeface="Times New Roman" panose="02020603050405020304" pitchFamily="18" charset="0"/>
                <a:cs typeface="Times New Roman" panose="02020603050405020304" pitchFamily="18" charset="0"/>
              </a:rPr>
              <a:t> </a:t>
            </a:r>
            <a:r>
              <a:rPr sz="1400" spc="5" dirty="0">
                <a:solidFill>
                  <a:srgbClr val="5270FF"/>
                </a:solidFill>
                <a:latin typeface="Times New Roman" panose="02020603050405020304" pitchFamily="18" charset="0"/>
                <a:cs typeface="Times New Roman" panose="02020603050405020304" pitchFamily="18" charset="0"/>
              </a:rPr>
              <a:t>by</a:t>
            </a:r>
            <a:r>
              <a:rPr sz="1400" spc="-65" dirty="0">
                <a:solidFill>
                  <a:srgbClr val="5270FF"/>
                </a:solidFill>
                <a:latin typeface="Times New Roman" panose="02020603050405020304" pitchFamily="18" charset="0"/>
                <a:cs typeface="Times New Roman" panose="02020603050405020304" pitchFamily="18" charset="0"/>
              </a:rPr>
              <a:t> </a:t>
            </a:r>
            <a:r>
              <a:rPr sz="1400" spc="-55" dirty="0">
                <a:solidFill>
                  <a:srgbClr val="5270FF"/>
                </a:solidFill>
                <a:latin typeface="Times New Roman" panose="02020603050405020304" pitchFamily="18" charset="0"/>
                <a:cs typeface="Times New Roman" panose="02020603050405020304" pitchFamily="18" charset="0"/>
              </a:rPr>
              <a:t>AICTE</a:t>
            </a:r>
            <a:r>
              <a:rPr sz="1400" spc="-70" dirty="0">
                <a:solidFill>
                  <a:srgbClr val="5270FF"/>
                </a:solidFill>
                <a:latin typeface="Times New Roman" panose="02020603050405020304" pitchFamily="18" charset="0"/>
                <a:cs typeface="Times New Roman" panose="02020603050405020304" pitchFamily="18" charset="0"/>
              </a:rPr>
              <a:t> New</a:t>
            </a:r>
            <a:r>
              <a:rPr sz="1400" spc="-65" dirty="0">
                <a:solidFill>
                  <a:srgbClr val="5270FF"/>
                </a:solidFill>
                <a:latin typeface="Times New Roman" panose="02020603050405020304" pitchFamily="18" charset="0"/>
                <a:cs typeface="Times New Roman" panose="02020603050405020304" pitchFamily="18" charset="0"/>
              </a:rPr>
              <a:t> </a:t>
            </a:r>
            <a:r>
              <a:rPr sz="1400" spc="5" dirty="0">
                <a:solidFill>
                  <a:srgbClr val="5270FF"/>
                </a:solidFill>
                <a:latin typeface="Times New Roman" panose="02020603050405020304" pitchFamily="18" charset="0"/>
                <a:cs typeface="Times New Roman" panose="02020603050405020304" pitchFamily="18" charset="0"/>
              </a:rPr>
              <a:t>Delhi</a:t>
            </a:r>
            <a:r>
              <a:rPr sz="1400" spc="-70" dirty="0">
                <a:solidFill>
                  <a:srgbClr val="5270FF"/>
                </a:solidFill>
                <a:latin typeface="Times New Roman" panose="02020603050405020304" pitchFamily="18" charset="0"/>
                <a:cs typeface="Times New Roman" panose="02020603050405020304" pitchFamily="18" charset="0"/>
              </a:rPr>
              <a:t> </a:t>
            </a:r>
            <a:r>
              <a:rPr sz="1400" spc="40" dirty="0">
                <a:solidFill>
                  <a:srgbClr val="5270FF"/>
                </a:solidFill>
                <a:latin typeface="Times New Roman" panose="02020603050405020304" pitchFamily="18" charset="0"/>
                <a:cs typeface="Times New Roman" panose="02020603050405020304" pitchFamily="18" charset="0"/>
              </a:rPr>
              <a:t>&amp;</a:t>
            </a:r>
            <a:r>
              <a:rPr sz="1400" spc="-65" dirty="0">
                <a:solidFill>
                  <a:srgbClr val="5270FF"/>
                </a:solidFill>
                <a:latin typeface="Times New Roman" panose="02020603050405020304" pitchFamily="18" charset="0"/>
                <a:cs typeface="Times New Roman" panose="02020603050405020304" pitchFamily="18" charset="0"/>
              </a:rPr>
              <a:t> </a:t>
            </a:r>
            <a:r>
              <a:rPr sz="1400" spc="-85" dirty="0">
                <a:solidFill>
                  <a:srgbClr val="5270FF"/>
                </a:solidFill>
                <a:latin typeface="Times New Roman" panose="02020603050405020304" pitchFamily="18" charset="0"/>
                <a:cs typeface="Times New Roman" panose="02020603050405020304" pitchFamily="18" charset="0"/>
              </a:rPr>
              <a:t>Recognised</a:t>
            </a:r>
            <a:r>
              <a:rPr sz="1400" spc="-70" dirty="0">
                <a:solidFill>
                  <a:srgbClr val="5270FF"/>
                </a:solidFill>
                <a:latin typeface="Times New Roman" panose="02020603050405020304" pitchFamily="18" charset="0"/>
                <a:cs typeface="Times New Roman" panose="02020603050405020304" pitchFamily="18" charset="0"/>
              </a:rPr>
              <a:t> </a:t>
            </a:r>
            <a:r>
              <a:rPr sz="1400" spc="5" dirty="0">
                <a:solidFill>
                  <a:srgbClr val="5270FF"/>
                </a:solidFill>
                <a:latin typeface="Times New Roman" panose="02020603050405020304" pitchFamily="18" charset="0"/>
                <a:cs typeface="Times New Roman" panose="02020603050405020304" pitchFamily="18" charset="0"/>
              </a:rPr>
              <a:t>by</a:t>
            </a:r>
            <a:r>
              <a:rPr sz="1400" spc="-65" dirty="0">
                <a:solidFill>
                  <a:srgbClr val="5270FF"/>
                </a:solidFill>
                <a:latin typeface="Times New Roman" panose="02020603050405020304" pitchFamily="18" charset="0"/>
                <a:cs typeface="Times New Roman" panose="02020603050405020304" pitchFamily="18" charset="0"/>
              </a:rPr>
              <a:t> </a:t>
            </a:r>
            <a:r>
              <a:rPr sz="1400" spc="10" dirty="0">
                <a:solidFill>
                  <a:srgbClr val="5270FF"/>
                </a:solidFill>
                <a:latin typeface="Times New Roman" panose="02020603050405020304" pitchFamily="18" charset="0"/>
                <a:cs typeface="Times New Roman" panose="02020603050405020304" pitchFamily="18" charset="0"/>
              </a:rPr>
              <a:t>Govt</a:t>
            </a:r>
            <a:r>
              <a:rPr sz="1400" spc="-70" dirty="0">
                <a:solidFill>
                  <a:srgbClr val="5270FF"/>
                </a:solidFill>
                <a:latin typeface="Times New Roman" panose="02020603050405020304" pitchFamily="18" charset="0"/>
                <a:cs typeface="Times New Roman" panose="02020603050405020304" pitchFamily="18" charset="0"/>
              </a:rPr>
              <a:t> </a:t>
            </a:r>
            <a:r>
              <a:rPr sz="1400" spc="80" dirty="0">
                <a:solidFill>
                  <a:srgbClr val="5270FF"/>
                </a:solidFill>
                <a:latin typeface="Times New Roman" panose="02020603050405020304" pitchFamily="18" charset="0"/>
                <a:cs typeface="Times New Roman" panose="02020603050405020304" pitchFamily="18" charset="0"/>
              </a:rPr>
              <a:t>of</a:t>
            </a:r>
            <a:r>
              <a:rPr sz="1400" spc="-65" dirty="0">
                <a:solidFill>
                  <a:srgbClr val="5270FF"/>
                </a:solidFill>
                <a:latin typeface="Times New Roman" panose="02020603050405020304" pitchFamily="18" charset="0"/>
                <a:cs typeface="Times New Roman" panose="02020603050405020304" pitchFamily="18" charset="0"/>
              </a:rPr>
              <a:t> </a:t>
            </a:r>
            <a:r>
              <a:rPr sz="1400" spc="15" dirty="0">
                <a:solidFill>
                  <a:srgbClr val="5270FF"/>
                </a:solidFill>
                <a:latin typeface="Times New Roman" panose="02020603050405020304" pitchFamily="18" charset="0"/>
                <a:cs typeface="Times New Roman" panose="02020603050405020304" pitchFamily="18" charset="0"/>
              </a:rPr>
              <a:t>Karnataka</a:t>
            </a:r>
            <a:endParaRPr sz="1400"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8646B24-36A0-8B17-5D75-BB538F58FE40}"/>
              </a:ext>
            </a:extLst>
          </p:cNvPr>
          <p:cNvSpPr txBox="1"/>
          <p:nvPr/>
        </p:nvSpPr>
        <p:spPr>
          <a:xfrm>
            <a:off x="351330" y="1655518"/>
            <a:ext cx="11489340" cy="369332"/>
          </a:xfrm>
          <a:prstGeom prst="rect">
            <a:avLst/>
          </a:prstGeom>
          <a:noFill/>
        </p:spPr>
        <p:txBody>
          <a:bodyPr wrap="square" rtlCol="0">
            <a:spAutoFit/>
          </a:bodyPr>
          <a:lstStyle/>
          <a:p>
            <a:pPr algn="ctr"/>
            <a:r>
              <a:rPr lang="en-US" sz="1800" b="1" spc="-120" dirty="0">
                <a:solidFill>
                  <a:srgbClr val="FF5757"/>
                </a:solidFill>
                <a:latin typeface="Times New Roman" panose="02020603050405020304" pitchFamily="18" charset="0"/>
                <a:cs typeface="Times New Roman" panose="02020603050405020304" pitchFamily="18" charset="0"/>
              </a:rPr>
              <a:t>DEPARTMENT</a:t>
            </a:r>
            <a:r>
              <a:rPr lang="en-US" sz="1800" b="1" spc="-75" dirty="0">
                <a:solidFill>
                  <a:srgbClr val="FF5757"/>
                </a:solidFill>
                <a:latin typeface="Times New Roman" panose="02020603050405020304" pitchFamily="18" charset="0"/>
                <a:cs typeface="Times New Roman" panose="02020603050405020304" pitchFamily="18" charset="0"/>
              </a:rPr>
              <a:t> </a:t>
            </a:r>
            <a:r>
              <a:rPr lang="en-US" sz="1800" b="1" spc="-70" dirty="0">
                <a:solidFill>
                  <a:srgbClr val="FF5757"/>
                </a:solidFill>
                <a:latin typeface="Times New Roman" panose="02020603050405020304" pitchFamily="18" charset="0"/>
                <a:cs typeface="Times New Roman" panose="02020603050405020304" pitchFamily="18" charset="0"/>
              </a:rPr>
              <a:t>OF CSE ( DATA SCIENCE )</a:t>
            </a:r>
            <a:endParaRPr lang="en-US" sz="1800" b="1" dirty="0">
              <a:solidFill>
                <a:srgbClr val="FF5757"/>
              </a:solidFill>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7C98FF11-04AB-5EB9-CFFA-0B20AFA29D15}"/>
              </a:ext>
            </a:extLst>
          </p:cNvPr>
          <p:cNvSpPr txBox="1"/>
          <p:nvPr/>
        </p:nvSpPr>
        <p:spPr>
          <a:xfrm>
            <a:off x="9528903" y="4877296"/>
            <a:ext cx="1903732" cy="707886"/>
          </a:xfrm>
          <a:prstGeom prst="rect">
            <a:avLst/>
          </a:prstGeom>
          <a:noFill/>
        </p:spPr>
        <p:txBody>
          <a:bodyPr wrap="square" rtlCol="0">
            <a:spAutoFit/>
          </a:bodyPr>
          <a:lstStyle/>
          <a:p>
            <a:r>
              <a:rPr lang="en-IN" sz="2000" b="1" dirty="0">
                <a:latin typeface="Times New Roman" panose="02020603050405020304" pitchFamily="18" charset="0"/>
                <a:cs typeface="Times New Roman" panose="02020603050405020304" pitchFamily="18" charset="0"/>
              </a:rPr>
              <a:t>Supreetha N S</a:t>
            </a:r>
          </a:p>
          <a:p>
            <a:r>
              <a:rPr lang="en-IN" sz="2000" b="1" dirty="0">
                <a:latin typeface="Times New Roman" panose="02020603050405020304" pitchFamily="18" charset="0"/>
                <a:cs typeface="Times New Roman" panose="02020603050405020304" pitchFamily="18" charset="0"/>
              </a:rPr>
              <a:t>4VP22CD058</a:t>
            </a:r>
          </a:p>
        </p:txBody>
      </p:sp>
    </p:spTree>
    <p:extLst>
      <p:ext uri="{BB962C8B-B14F-4D97-AF65-F5344CB8AC3E}">
        <p14:creationId xmlns:p14="http://schemas.microsoft.com/office/powerpoint/2010/main" val="3461196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679245-D237-9406-DED1-C7952946444E}"/>
              </a:ext>
            </a:extLst>
          </p:cNvPr>
          <p:cNvSpPr>
            <a:spLocks noGrp="1"/>
          </p:cNvSpPr>
          <p:nvPr>
            <p:ph idx="1"/>
          </p:nvPr>
        </p:nvSpPr>
        <p:spPr>
          <a:xfrm>
            <a:off x="344345" y="1665539"/>
            <a:ext cx="11503309" cy="5192461"/>
          </a:xfrm>
        </p:spPr>
        <p:txBody>
          <a:bodyPr>
            <a:noAutofit/>
          </a:bodyPr>
          <a:lstStyle/>
          <a:p>
            <a:pPr marL="0" indent="0" algn="just">
              <a:lnSpc>
                <a:spcPct val="150000"/>
              </a:lnSpc>
              <a:buNone/>
            </a:pPr>
            <a:r>
              <a:rPr lang="en-US" sz="2600" dirty="0">
                <a:latin typeface="Times New Roman" panose="02020603050405020304" pitchFamily="18" charset="0"/>
                <a:cs typeface="Times New Roman" panose="02020603050405020304" pitchFamily="18" charset="0"/>
              </a:rPr>
              <a:t>Timetable scheduling is a core administrative task in educational institutions that involves managing multiple constraints such as faculty availability, course requirements, and class distribution. Traditionally, this process is carried out manually, which is time-consuming and prone to errors. With increasing academic complexity, the need for an automated system capable of efficiently generating accurate and conflict-free timetables has become evident. This requirement is addressed by the Web-Based Automatic Timetable Scheduler, which provides a comprehensive web-based solution for automated timetable generation..</a:t>
            </a:r>
            <a:endParaRPr lang="en-IN" sz="2600"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B25F8A58-2497-666C-ADA8-D2B0FFAF2C93}"/>
              </a:ext>
            </a:extLst>
          </p:cNvPr>
          <p:cNvSpPr>
            <a:spLocks noGrp="1"/>
          </p:cNvSpPr>
          <p:nvPr>
            <p:ph type="sldNum" sz="quarter" idx="12"/>
          </p:nvPr>
        </p:nvSpPr>
        <p:spPr/>
        <p:txBody>
          <a:bodyPr/>
          <a:lstStyle/>
          <a:p>
            <a:fld id="{D19EB42E-18EF-4ADA-8D91-F15AD1AFC8DD}" type="slidenum">
              <a:rPr lang="en-IN" smtClean="0"/>
              <a:t>2</a:t>
            </a:fld>
            <a:endParaRPr lang="en-IN"/>
          </a:p>
        </p:txBody>
      </p:sp>
      <p:sp>
        <p:nvSpPr>
          <p:cNvPr id="5" name="Title 1">
            <a:extLst>
              <a:ext uri="{FF2B5EF4-FFF2-40B4-BE49-F238E27FC236}">
                <a16:creationId xmlns:a16="http://schemas.microsoft.com/office/drawing/2014/main" id="{0690D6F9-2995-3CE3-5880-89BC162C6EFD}"/>
              </a:ext>
            </a:extLst>
          </p:cNvPr>
          <p:cNvSpPr>
            <a:spLocks noGrp="1"/>
          </p:cNvSpPr>
          <p:nvPr>
            <p:ph type="title"/>
          </p:nvPr>
        </p:nvSpPr>
        <p:spPr>
          <a:xfrm>
            <a:off x="548832" y="412208"/>
            <a:ext cx="10515600" cy="1325563"/>
          </a:xfrm>
        </p:spPr>
        <p:txBody>
          <a:bodyPr/>
          <a:lstStyle/>
          <a:p>
            <a:pPr marL="571500" indent="-571500" algn="just">
              <a:buFont typeface="Wingdings" panose="05000000000000000000" pitchFamily="2" charset="2"/>
              <a:buChar char="Ø"/>
            </a:pPr>
            <a:r>
              <a:rPr lang="en-US" dirty="0">
                <a:solidFill>
                  <a:schemeClr val="accent1">
                    <a:lumMod val="75000"/>
                  </a:schemeClr>
                </a:solidFill>
                <a:latin typeface="Times New Roman" panose="02020603050405020304" pitchFamily="18" charset="0"/>
                <a:cs typeface="Times New Roman" panose="02020603050405020304" pitchFamily="18" charset="0"/>
              </a:rPr>
              <a:t>I</a:t>
            </a:r>
            <a:r>
              <a:rPr lang="en-IN" dirty="0" err="1">
                <a:solidFill>
                  <a:schemeClr val="accent1">
                    <a:lumMod val="75000"/>
                  </a:schemeClr>
                </a:solidFill>
                <a:latin typeface="Times New Roman" panose="02020603050405020304" pitchFamily="18" charset="0"/>
                <a:cs typeface="Times New Roman" panose="02020603050405020304" pitchFamily="18" charset="0"/>
              </a:rPr>
              <a:t>ntroduction</a:t>
            </a:r>
            <a:endParaRPr lang="en-IN" dirty="0">
              <a:solidFill>
                <a:schemeClr val="accent1">
                  <a:lumMod val="7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132580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5927DB-0BC4-10A5-F04D-0AAC9C571289}"/>
              </a:ext>
            </a:extLst>
          </p:cNvPr>
          <p:cNvSpPr>
            <a:spLocks noGrp="1"/>
          </p:cNvSpPr>
          <p:nvPr>
            <p:ph type="title"/>
          </p:nvPr>
        </p:nvSpPr>
        <p:spPr>
          <a:xfrm>
            <a:off x="548832" y="412208"/>
            <a:ext cx="10515600" cy="1325563"/>
          </a:xfrm>
        </p:spPr>
        <p:txBody>
          <a:bodyPr/>
          <a:lstStyle/>
          <a:p>
            <a:pPr marL="571500" indent="-571500" algn="just">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Objectives</a:t>
            </a:r>
          </a:p>
        </p:txBody>
      </p:sp>
      <p:sp>
        <p:nvSpPr>
          <p:cNvPr id="8" name="Slide Number Placeholder 7">
            <a:extLst>
              <a:ext uri="{FF2B5EF4-FFF2-40B4-BE49-F238E27FC236}">
                <a16:creationId xmlns:a16="http://schemas.microsoft.com/office/drawing/2014/main" id="{943B2B1A-BAFD-8784-A1B7-51B51F23CE6D}"/>
              </a:ext>
            </a:extLst>
          </p:cNvPr>
          <p:cNvSpPr>
            <a:spLocks noGrp="1"/>
          </p:cNvSpPr>
          <p:nvPr>
            <p:ph type="sldNum" sz="quarter" idx="12"/>
          </p:nvPr>
        </p:nvSpPr>
        <p:spPr/>
        <p:txBody>
          <a:bodyPr/>
          <a:lstStyle/>
          <a:p>
            <a:fld id="{D19EB42E-18EF-4ADA-8D91-F15AD1AFC8DD}" type="slidenum">
              <a:rPr lang="en-IN" smtClean="0"/>
              <a:t>3</a:t>
            </a:fld>
            <a:endParaRPr lang="en-IN"/>
          </a:p>
        </p:txBody>
      </p:sp>
      <p:sp>
        <p:nvSpPr>
          <p:cNvPr id="12" name="Content Placeholder 11">
            <a:extLst>
              <a:ext uri="{FF2B5EF4-FFF2-40B4-BE49-F238E27FC236}">
                <a16:creationId xmlns:a16="http://schemas.microsoft.com/office/drawing/2014/main" id="{3C56EA43-807D-8DFD-20B6-9D2F1F4DD58F}"/>
              </a:ext>
            </a:extLst>
          </p:cNvPr>
          <p:cNvSpPr>
            <a:spLocks noGrp="1"/>
          </p:cNvSpPr>
          <p:nvPr>
            <p:ph idx="1"/>
          </p:nvPr>
        </p:nvSpPr>
        <p:spPr>
          <a:xfrm>
            <a:off x="548832" y="1737771"/>
            <a:ext cx="10804968" cy="4983704"/>
          </a:xfrm>
        </p:spPr>
        <p:txBody>
          <a:bodyPr>
            <a:normAutofit fontScale="92500"/>
          </a:bodyPr>
          <a:lstStyle/>
          <a:p>
            <a:pPr marL="0" lvl="0" indent="0" algn="just" eaLnBrk="0" fontAlgn="base" hangingPunct="0">
              <a:lnSpc>
                <a:spcPct val="150000"/>
              </a:lnSpc>
              <a:spcBef>
                <a:spcPct val="0"/>
              </a:spcBef>
              <a:spcAft>
                <a:spcPct val="0"/>
              </a:spcAft>
              <a:buFontTx/>
              <a:buChar char="•"/>
            </a:pPr>
            <a:r>
              <a:rPr lang="en-US" altLang="en-US" dirty="0">
                <a:latin typeface="Times New Roman" panose="02020603050405020304" pitchFamily="18" charset="0"/>
                <a:cs typeface="Times New Roman" panose="02020603050405020304" pitchFamily="18" charset="0"/>
              </a:rPr>
              <a:t>To automate timetable creation and eliminate inefficiencies and errors caused by manual scheduling.</a:t>
            </a:r>
          </a:p>
          <a:p>
            <a:pPr marL="0" lvl="0" indent="0" algn="just" eaLnBrk="0" fontAlgn="base" hangingPunct="0">
              <a:lnSpc>
                <a:spcPct val="150000"/>
              </a:lnSpc>
              <a:spcBef>
                <a:spcPct val="0"/>
              </a:spcBef>
              <a:spcAft>
                <a:spcPct val="0"/>
              </a:spcAft>
              <a:buFontTx/>
              <a:buChar char="•"/>
            </a:pPr>
            <a:r>
              <a:rPr lang="en-US" altLang="en-US" dirty="0">
                <a:latin typeface="Times New Roman" panose="02020603050405020304" pitchFamily="18" charset="0"/>
                <a:cs typeface="Times New Roman" panose="02020603050405020304" pitchFamily="18" charset="0"/>
              </a:rPr>
              <a:t>To use a Genetic Algorithm to optimize course and faculty allocation while satisfying hard constraints and minimizing soft constraint violations.</a:t>
            </a:r>
          </a:p>
          <a:p>
            <a:pPr marL="0" lvl="0" indent="0" algn="just" eaLnBrk="0" fontAlgn="base" hangingPunct="0">
              <a:lnSpc>
                <a:spcPct val="150000"/>
              </a:lnSpc>
              <a:spcBef>
                <a:spcPct val="0"/>
              </a:spcBef>
              <a:spcAft>
                <a:spcPct val="0"/>
              </a:spcAft>
              <a:buFontTx/>
              <a:buChar char="•"/>
            </a:pPr>
            <a:r>
              <a:rPr lang="en-US" altLang="en-US" dirty="0">
                <a:latin typeface="Times New Roman" panose="02020603050405020304" pitchFamily="18" charset="0"/>
                <a:cs typeface="Times New Roman" panose="02020603050405020304" pitchFamily="18" charset="0"/>
              </a:rPr>
              <a:t>To provide a user-friendly interface for easy data input, schedule modification, and timetable visualization.</a:t>
            </a:r>
          </a:p>
          <a:p>
            <a:pPr marL="0" lvl="0" indent="0" algn="just" eaLnBrk="0" fontAlgn="base" hangingPunct="0">
              <a:lnSpc>
                <a:spcPct val="150000"/>
              </a:lnSpc>
              <a:spcBef>
                <a:spcPct val="0"/>
              </a:spcBef>
              <a:spcAft>
                <a:spcPct val="0"/>
              </a:spcAft>
              <a:buFontTx/>
              <a:buChar char="•"/>
            </a:pPr>
            <a:r>
              <a:rPr lang="en-US" altLang="en-US" dirty="0">
                <a:latin typeface="Times New Roman" panose="02020603050405020304" pitchFamily="18" charset="0"/>
                <a:cs typeface="Times New Roman" panose="02020603050405020304" pitchFamily="18" charset="0"/>
              </a:rPr>
              <a:t>To ensure accurate and reliable timetable generation through validation checks and conflict detection mechanisms.</a:t>
            </a:r>
          </a:p>
          <a:p>
            <a:pPr marL="0" lvl="0" indent="0" algn="just" eaLnBrk="0" fontAlgn="base" hangingPunct="0">
              <a:lnSpc>
                <a:spcPct val="150000"/>
              </a:lnSpc>
              <a:spcBef>
                <a:spcPct val="0"/>
              </a:spcBef>
              <a:spcAft>
                <a:spcPct val="0"/>
              </a:spcAft>
              <a:buFontTx/>
              <a:buChar char="•"/>
            </a:pPr>
            <a:endParaRPr lang="en-US" altLang="en-US" dirty="0">
              <a:latin typeface="Times New Roman" panose="02020603050405020304" pitchFamily="18" charset="0"/>
              <a:cs typeface="Times New Roman" panose="02020603050405020304" pitchFamily="18" charset="0"/>
            </a:endParaRPr>
          </a:p>
          <a:p>
            <a:pPr marL="0" lvl="0" indent="0" algn="just" eaLnBrk="0" fontAlgn="base" hangingPunct="0">
              <a:lnSpc>
                <a:spcPct val="150000"/>
              </a:lnSpc>
              <a:spcBef>
                <a:spcPct val="0"/>
              </a:spcBef>
              <a:spcAft>
                <a:spcPct val="0"/>
              </a:spcAft>
              <a:buFontTx/>
              <a:buChar char="•"/>
            </a:pPr>
            <a:endParaRPr lang="en-US" altLang="en-US" dirty="0">
              <a:latin typeface="Times New Roman" panose="02020603050405020304" pitchFamily="18" charset="0"/>
              <a:cs typeface="Times New Roman" panose="02020603050405020304" pitchFamily="18" charset="0"/>
            </a:endParaRPr>
          </a:p>
          <a:p>
            <a:pPr algn="just">
              <a:lnSpc>
                <a:spcPct val="150000"/>
              </a:lnSpc>
            </a:pP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207583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FB66D-CD0E-B582-D93F-356EC0F41E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85A9E5-0D78-2F60-F3BE-520D410469CF}"/>
              </a:ext>
            </a:extLst>
          </p:cNvPr>
          <p:cNvSpPr>
            <a:spLocks noGrp="1"/>
          </p:cNvSpPr>
          <p:nvPr>
            <p:ph type="title"/>
          </p:nvPr>
        </p:nvSpPr>
        <p:spPr>
          <a:xfrm>
            <a:off x="548832" y="412208"/>
            <a:ext cx="10515600" cy="1325563"/>
          </a:xfrm>
        </p:spPr>
        <p:txBody>
          <a:bodyPr/>
          <a:lstStyle/>
          <a:p>
            <a:pPr marL="571500" indent="-571500" algn="just">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8AB36FC7-3D41-7DB2-B5C9-D973BE8AC6BC}"/>
              </a:ext>
            </a:extLst>
          </p:cNvPr>
          <p:cNvSpPr>
            <a:spLocks noGrp="1"/>
          </p:cNvSpPr>
          <p:nvPr>
            <p:ph idx="1"/>
          </p:nvPr>
        </p:nvSpPr>
        <p:spPr>
          <a:xfrm>
            <a:off x="349045" y="1737771"/>
            <a:ext cx="11493910" cy="4181766"/>
          </a:xfrm>
        </p:spPr>
        <p:txBody>
          <a:bodyPr>
            <a:noAutofit/>
          </a:bodyPr>
          <a:lstStyle/>
          <a:p>
            <a:pPr marL="0" indent="0" algn="just">
              <a:lnSpc>
                <a:spcPct val="160000"/>
              </a:lnSpc>
              <a:buNone/>
            </a:pPr>
            <a:r>
              <a:rPr lang="en-US" sz="2600" dirty="0">
                <a:latin typeface="Times New Roman" panose="02020603050405020304" pitchFamily="18" charset="0"/>
                <a:cs typeface="Times New Roman" panose="02020603050405020304" pitchFamily="18" charset="0"/>
              </a:rPr>
              <a:t>Timetable scheduling is an essential administrative activity in educational institutions that involves coordinating faculty, courses, and class schedules. As academic structures become more complex, effective scheduling plays a crucial role in ensuring smooth institutional functioning. To support this requirement, the Web-Based Automatic Timetable Scheduler provides a centralized and automated platform for generating academic timetables in an efficient and organized manner.</a:t>
            </a:r>
            <a:endParaRPr lang="en-IN" sz="2600" dirty="0">
              <a:latin typeface="Times New Roman" panose="02020603050405020304" pitchFamily="18" charset="0"/>
              <a:cs typeface="Times New Roman" panose="02020603050405020304" pitchFamily="18" charset="0"/>
            </a:endParaRPr>
          </a:p>
          <a:p>
            <a:pPr algn="just">
              <a:lnSpc>
                <a:spcPct val="160000"/>
              </a:lnSpc>
            </a:pPr>
            <a:endParaRPr lang="en-IN" sz="2600"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7A69E169-0785-863C-50E6-B26BFB1E4040}"/>
              </a:ext>
            </a:extLst>
          </p:cNvPr>
          <p:cNvSpPr>
            <a:spLocks noGrp="1"/>
          </p:cNvSpPr>
          <p:nvPr>
            <p:ph type="sldNum" sz="quarter" idx="12"/>
          </p:nvPr>
        </p:nvSpPr>
        <p:spPr/>
        <p:txBody>
          <a:bodyPr/>
          <a:lstStyle/>
          <a:p>
            <a:fld id="{D19EB42E-18EF-4ADA-8D91-F15AD1AFC8DD}" type="slidenum">
              <a:rPr lang="en-IN" smtClean="0"/>
              <a:t>4</a:t>
            </a:fld>
            <a:endParaRPr lang="en-IN"/>
          </a:p>
        </p:txBody>
      </p:sp>
    </p:spTree>
    <p:extLst>
      <p:ext uri="{BB962C8B-B14F-4D97-AF65-F5344CB8AC3E}">
        <p14:creationId xmlns:p14="http://schemas.microsoft.com/office/powerpoint/2010/main" val="730380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B9790-7065-E88F-A651-20A3489F2AEB}"/>
              </a:ext>
            </a:extLst>
          </p:cNvPr>
          <p:cNvSpPr>
            <a:spLocks noGrp="1"/>
          </p:cNvSpPr>
          <p:nvPr>
            <p:ph type="title"/>
          </p:nvPr>
        </p:nvSpPr>
        <p:spPr>
          <a:xfrm>
            <a:off x="548833" y="411423"/>
            <a:ext cx="10515600" cy="1325563"/>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Proposed Solution</a:t>
            </a:r>
          </a:p>
        </p:txBody>
      </p:sp>
      <p:sp>
        <p:nvSpPr>
          <p:cNvPr id="3" name="Content Placeholder 2">
            <a:extLst>
              <a:ext uri="{FF2B5EF4-FFF2-40B4-BE49-F238E27FC236}">
                <a16:creationId xmlns:a16="http://schemas.microsoft.com/office/drawing/2014/main" id="{E1110629-7CFF-0CD0-A7EA-799DD1291E9C}"/>
              </a:ext>
            </a:extLst>
          </p:cNvPr>
          <p:cNvSpPr>
            <a:spLocks noGrp="1"/>
          </p:cNvSpPr>
          <p:nvPr>
            <p:ph idx="1"/>
          </p:nvPr>
        </p:nvSpPr>
        <p:spPr>
          <a:xfrm>
            <a:off x="344129" y="1736985"/>
            <a:ext cx="11513574" cy="4709592"/>
          </a:xfrm>
        </p:spPr>
        <p:txBody>
          <a:bodyPr>
            <a:normAutofit fontScale="25000" lnSpcReduction="20000"/>
          </a:bodyPr>
          <a:lstStyle/>
          <a:p>
            <a:pPr marL="0" indent="0" algn="just">
              <a:lnSpc>
                <a:spcPct val="170000"/>
              </a:lnSpc>
              <a:buNone/>
            </a:pPr>
            <a:r>
              <a:rPr lang="en-US" sz="10400" dirty="0">
                <a:latin typeface="Times New Roman" panose="02020603050405020304" pitchFamily="18" charset="0"/>
                <a:cs typeface="Times New Roman" panose="02020603050405020304" pitchFamily="18" charset="0"/>
              </a:rPr>
              <a:t>The proposed solution is a Web-Based Automatic Timetable Scheduler designed to automate the process of academic timetable generation. The system uses a Genetic Algorithm to produce optimized and conflict-free timetables based on predefined academic constraints such as faculty availability, course requirements, and lab allocations. Through a user-friendly web interface, administrators can easily manage academic data and generate timetables efficiently. The solution minimizes manual effort, improves scheduling accuracy, and provides flexibility to handle institutional scheduling needs</a:t>
            </a:r>
            <a:r>
              <a:rPr lang="en-US" sz="4700" dirty="0">
                <a:latin typeface="Times New Roman" panose="02020603050405020304" pitchFamily="18" charset="0"/>
                <a:cs typeface="Times New Roman" panose="02020603050405020304" pitchFamily="18" charset="0"/>
              </a:rPr>
              <a:t>.</a:t>
            </a:r>
          </a:p>
          <a:p>
            <a:pPr algn="just">
              <a:lnSpc>
                <a:spcPct val="170000"/>
              </a:lnSpc>
            </a:pPr>
            <a:endParaRPr lang="en-IN" sz="2400"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EFDB9BE3-73BF-04CF-0122-C78DE668ED19}"/>
              </a:ext>
            </a:extLst>
          </p:cNvPr>
          <p:cNvSpPr>
            <a:spLocks noGrp="1"/>
          </p:cNvSpPr>
          <p:nvPr>
            <p:ph type="sldNum" sz="quarter" idx="12"/>
          </p:nvPr>
        </p:nvSpPr>
        <p:spPr/>
        <p:txBody>
          <a:bodyPr/>
          <a:lstStyle/>
          <a:p>
            <a:fld id="{D19EB42E-18EF-4ADA-8D91-F15AD1AFC8DD}" type="slidenum">
              <a:rPr lang="en-IN" smtClean="0"/>
              <a:t>5</a:t>
            </a:fld>
            <a:endParaRPr lang="en-IN"/>
          </a:p>
        </p:txBody>
      </p:sp>
    </p:spTree>
    <p:extLst>
      <p:ext uri="{BB962C8B-B14F-4D97-AF65-F5344CB8AC3E}">
        <p14:creationId xmlns:p14="http://schemas.microsoft.com/office/powerpoint/2010/main" val="22484657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3C47C7-228C-0586-A0DB-47FFEE638757}"/>
              </a:ext>
            </a:extLst>
          </p:cNvPr>
          <p:cNvSpPr>
            <a:spLocks noGrp="1"/>
          </p:cNvSpPr>
          <p:nvPr>
            <p:ph type="title"/>
          </p:nvPr>
        </p:nvSpPr>
        <p:spPr>
          <a:xfrm>
            <a:off x="548833" y="399849"/>
            <a:ext cx="10515600" cy="1325563"/>
          </a:xfrm>
        </p:spPr>
        <p:txBody>
          <a:bodyPr/>
          <a:lstStyle/>
          <a:p>
            <a:pPr marL="571500" indent="-571500">
              <a:buFont typeface="Wingdings" panose="05000000000000000000" pitchFamily="2" charset="2"/>
              <a:buChar char="Ø"/>
            </a:pPr>
            <a:r>
              <a:rPr lang="en-US" dirty="0">
                <a:solidFill>
                  <a:schemeClr val="accent1">
                    <a:lumMod val="75000"/>
                  </a:schemeClr>
                </a:solidFill>
                <a:latin typeface="Times New Roman" panose="02020603050405020304" pitchFamily="18" charset="0"/>
                <a:cs typeface="Times New Roman" panose="02020603050405020304" pitchFamily="18" charset="0"/>
              </a:rPr>
              <a:t>Methodology</a:t>
            </a:r>
            <a:endParaRPr lang="en-IN" dirty="0">
              <a:solidFill>
                <a:schemeClr val="accent1">
                  <a:lumMod val="75000"/>
                </a:schemeClr>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950621D-BE4A-93C6-9FA2-B5DFCA8A0C98}"/>
              </a:ext>
            </a:extLst>
          </p:cNvPr>
          <p:cNvSpPr>
            <a:spLocks noGrp="1"/>
          </p:cNvSpPr>
          <p:nvPr>
            <p:ph idx="1"/>
          </p:nvPr>
        </p:nvSpPr>
        <p:spPr>
          <a:xfrm>
            <a:off x="353074" y="1769508"/>
            <a:ext cx="11485851" cy="4351338"/>
          </a:xfrm>
        </p:spPr>
        <p:txBody>
          <a:bodyPr>
            <a:noAutofit/>
          </a:bodyPr>
          <a:lstStyle/>
          <a:p>
            <a:pPr marL="0" indent="0" algn="just">
              <a:lnSpc>
                <a:spcPct val="150000"/>
              </a:lnSpc>
              <a:buNone/>
            </a:pPr>
            <a:r>
              <a:rPr lang="en-US" sz="2600" dirty="0">
                <a:latin typeface="Times New Roman" panose="02020603050405020304" pitchFamily="18" charset="0"/>
                <a:cs typeface="Times New Roman" panose="02020603050405020304" pitchFamily="18" charset="0"/>
              </a:rPr>
              <a:t>The methodology followed here begins with collecting academic data such as departments, courses, faculty details, and availability preferences through a web-based interface. This data is processed using a Genetic Algorithm, which generates multiple timetable solutions and iteratively improves them by minimizing conflicts and satisfying scheduling constraints. The best solution is selected based on fitness evaluation and presented as the final timetable, ensuring efficiency and accuracy in scheduling.</a:t>
            </a:r>
            <a:endParaRPr lang="en-IN" sz="2600" dirty="0">
              <a:latin typeface="Times New Roman" panose="02020603050405020304" pitchFamily="18" charset="0"/>
              <a:cs typeface="Times New Roman" panose="02020603050405020304" pitchFamily="18" charset="0"/>
            </a:endParaRPr>
          </a:p>
          <a:p>
            <a:pPr algn="just">
              <a:lnSpc>
                <a:spcPct val="150000"/>
              </a:lnSpc>
            </a:pPr>
            <a:endParaRPr lang="en-IN" sz="2600"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8653F594-5A14-BC95-78E4-2E32BD5CD09C}"/>
              </a:ext>
            </a:extLst>
          </p:cNvPr>
          <p:cNvSpPr>
            <a:spLocks noGrp="1"/>
          </p:cNvSpPr>
          <p:nvPr>
            <p:ph type="sldNum" sz="quarter" idx="12"/>
          </p:nvPr>
        </p:nvSpPr>
        <p:spPr/>
        <p:txBody>
          <a:bodyPr/>
          <a:lstStyle/>
          <a:p>
            <a:fld id="{D19EB42E-18EF-4ADA-8D91-F15AD1AFC8DD}" type="slidenum">
              <a:rPr lang="en-IN" smtClean="0"/>
              <a:t>6</a:t>
            </a:fld>
            <a:endParaRPr lang="en-IN"/>
          </a:p>
        </p:txBody>
      </p:sp>
    </p:spTree>
    <p:extLst>
      <p:ext uri="{BB962C8B-B14F-4D97-AF65-F5344CB8AC3E}">
        <p14:creationId xmlns:p14="http://schemas.microsoft.com/office/powerpoint/2010/main" val="5633700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7A1AF5-3EB8-FCA3-B05C-F14BB5A9992E}"/>
              </a:ext>
            </a:extLst>
          </p:cNvPr>
          <p:cNvSpPr>
            <a:spLocks noGrp="1"/>
          </p:cNvSpPr>
          <p:nvPr>
            <p:ph type="title"/>
          </p:nvPr>
        </p:nvSpPr>
        <p:spPr>
          <a:xfrm>
            <a:off x="548832" y="399850"/>
            <a:ext cx="10515600" cy="1325563"/>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System Architecture</a:t>
            </a:r>
          </a:p>
        </p:txBody>
      </p:sp>
      <p:sp>
        <p:nvSpPr>
          <p:cNvPr id="8" name="Slide Number Placeholder 7">
            <a:extLst>
              <a:ext uri="{FF2B5EF4-FFF2-40B4-BE49-F238E27FC236}">
                <a16:creationId xmlns:a16="http://schemas.microsoft.com/office/drawing/2014/main" id="{6CBD0871-B522-D837-0C12-CC593055CE70}"/>
              </a:ext>
            </a:extLst>
          </p:cNvPr>
          <p:cNvSpPr>
            <a:spLocks noGrp="1"/>
          </p:cNvSpPr>
          <p:nvPr>
            <p:ph type="sldNum" sz="quarter" idx="12"/>
          </p:nvPr>
        </p:nvSpPr>
        <p:spPr/>
        <p:txBody>
          <a:bodyPr/>
          <a:lstStyle/>
          <a:p>
            <a:fld id="{D19EB42E-18EF-4ADA-8D91-F15AD1AFC8DD}" type="slidenum">
              <a:rPr lang="en-IN" smtClean="0"/>
              <a:t>7</a:t>
            </a:fld>
            <a:endParaRPr lang="en-IN" dirty="0"/>
          </a:p>
        </p:txBody>
      </p:sp>
      <p:sp>
        <p:nvSpPr>
          <p:cNvPr id="4" name="TextBox 3">
            <a:extLst>
              <a:ext uri="{FF2B5EF4-FFF2-40B4-BE49-F238E27FC236}">
                <a16:creationId xmlns:a16="http://schemas.microsoft.com/office/drawing/2014/main" id="{31E2A8DF-9746-CE40-E494-C3EB87603BD3}"/>
              </a:ext>
            </a:extLst>
          </p:cNvPr>
          <p:cNvSpPr txBox="1"/>
          <p:nvPr/>
        </p:nvSpPr>
        <p:spPr>
          <a:xfrm>
            <a:off x="6643869" y="5038159"/>
            <a:ext cx="5737254" cy="584775"/>
          </a:xfrm>
          <a:prstGeom prst="rect">
            <a:avLst/>
          </a:prstGeom>
          <a:noFill/>
        </p:spPr>
        <p:txBody>
          <a:bodyPr wrap="square" rtlCol="0">
            <a:spAutoFit/>
          </a:bodyPr>
          <a:lstStyle/>
          <a:p>
            <a:pPr algn="ctr"/>
            <a:r>
              <a:rPr lang="en-US" sz="1600" b="1" dirty="0">
                <a:latin typeface="Times New Roman" panose="02020603050405020304" pitchFamily="18" charset="0"/>
                <a:cs typeface="Times New Roman" panose="02020603050405020304" pitchFamily="18" charset="0"/>
              </a:rPr>
              <a:t>Figure : The System Architecture of Web-based Automatic Timetable Scheduler</a:t>
            </a:r>
            <a:endParaRPr lang="en-IN" sz="1600" b="1"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21395C93-51C3-EF32-2672-E0B5956985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57034" y="1388154"/>
            <a:ext cx="5041337" cy="3501366"/>
          </a:xfrm>
          <a:prstGeom prst="rect">
            <a:avLst/>
          </a:prstGeom>
          <a:ln>
            <a:solidFill>
              <a:schemeClr val="tx1"/>
            </a:solidFill>
          </a:ln>
        </p:spPr>
      </p:pic>
      <p:sp>
        <p:nvSpPr>
          <p:cNvPr id="10" name="Content Placeholder 2">
            <a:extLst>
              <a:ext uri="{FF2B5EF4-FFF2-40B4-BE49-F238E27FC236}">
                <a16:creationId xmlns:a16="http://schemas.microsoft.com/office/drawing/2014/main" id="{9C9F0236-5305-10C2-4D2C-732EB5A242E3}"/>
              </a:ext>
            </a:extLst>
          </p:cNvPr>
          <p:cNvSpPr>
            <a:spLocks noGrp="1"/>
          </p:cNvSpPr>
          <p:nvPr>
            <p:ph idx="1"/>
          </p:nvPr>
        </p:nvSpPr>
        <p:spPr>
          <a:xfrm>
            <a:off x="353074" y="1658367"/>
            <a:ext cx="6290795" cy="5063108"/>
          </a:xfrm>
        </p:spPr>
        <p:txBody>
          <a:bodyPr>
            <a:noAutofit/>
          </a:bodyPr>
          <a:lstStyle/>
          <a:p>
            <a:pPr algn="just">
              <a:lnSpc>
                <a:spcPct val="100000"/>
              </a:lnSpc>
            </a:pPr>
            <a:r>
              <a:rPr lang="en-US" sz="2000" dirty="0">
                <a:latin typeface="Times New Roman" panose="02020603050405020304" pitchFamily="18" charset="0"/>
                <a:cs typeface="Times New Roman" panose="02020603050405020304" pitchFamily="18" charset="0"/>
              </a:rPr>
              <a:t>The Architecture follows 3-layered modular approach.</a:t>
            </a:r>
          </a:p>
          <a:p>
            <a:pPr algn="just">
              <a:lnSpc>
                <a:spcPct val="100000"/>
              </a:lnSpc>
            </a:pPr>
            <a:r>
              <a:rPr lang="en-US" sz="2000" dirty="0">
                <a:latin typeface="Times New Roman" panose="02020603050405020304" pitchFamily="18" charset="0"/>
                <a:cs typeface="Times New Roman" panose="02020603050405020304" pitchFamily="18" charset="0"/>
              </a:rPr>
              <a:t>User Interface is developed using </a:t>
            </a:r>
            <a:r>
              <a:rPr lang="en-US" sz="2000" dirty="0" err="1">
                <a:latin typeface="Times New Roman" panose="02020603050405020304" pitchFamily="18" charset="0"/>
                <a:cs typeface="Times New Roman" panose="02020603050405020304" pitchFamily="18" charset="0"/>
              </a:rPr>
              <a:t>Streamlit</a:t>
            </a:r>
            <a:r>
              <a:rPr lang="en-US" sz="2000" dirty="0">
                <a:latin typeface="Times New Roman" panose="02020603050405020304" pitchFamily="18" charset="0"/>
                <a:cs typeface="Times New Roman" panose="02020603050405020304" pitchFamily="18" charset="0"/>
              </a:rPr>
              <a:t> used for form-based input and data visualization.</a:t>
            </a:r>
          </a:p>
          <a:p>
            <a:pPr algn="just">
              <a:lnSpc>
                <a:spcPct val="100000"/>
              </a:lnSpc>
            </a:pPr>
            <a:r>
              <a:rPr lang="en-US" sz="2000" dirty="0">
                <a:latin typeface="Times New Roman" panose="02020603050405020304" pitchFamily="18" charset="0"/>
                <a:cs typeface="Times New Roman" panose="02020603050405020304" pitchFamily="18" charset="0"/>
              </a:rPr>
              <a:t>The Genetic Algorithm serves as the core optimization engine, generating conflict-free timetables by evaluating multiple scheduling solutions. Genetic Algorithm parameters such as population size, crossover rate, mutation rate, and number of generations control the optimization process and influence the quality of the generated timetable.</a:t>
            </a:r>
          </a:p>
          <a:p>
            <a:pPr>
              <a:lnSpc>
                <a:spcPct val="100000"/>
              </a:lnSpc>
            </a:pPr>
            <a:r>
              <a:rPr lang="en-US" sz="2000" dirty="0">
                <a:latin typeface="Times New Roman" panose="02020603050405020304" pitchFamily="18" charset="0"/>
                <a:cs typeface="Times New Roman" panose="02020603050405020304" pitchFamily="18" charset="0"/>
              </a:rPr>
              <a:t>Academic and scheduling data is stored and managed using a database.</a:t>
            </a:r>
          </a:p>
          <a:p>
            <a:pPr>
              <a:lnSpc>
                <a:spcPct val="100000"/>
              </a:lnSpc>
            </a:pPr>
            <a:r>
              <a:rPr lang="en-US" sz="2000" dirty="0">
                <a:latin typeface="Times New Roman" panose="02020603050405020304" pitchFamily="18" charset="0"/>
                <a:cs typeface="Times New Roman" panose="02020603050405020304" pitchFamily="18" charset="0"/>
              </a:rPr>
              <a:t>The final optimized timetable is generated and displayed to the user through the web interface.</a:t>
            </a:r>
          </a:p>
          <a:p>
            <a:pPr marL="0" indent="0" algn="just">
              <a:lnSpc>
                <a:spcPct val="100000"/>
              </a:lnSpc>
              <a:buNone/>
            </a:pPr>
            <a:endParaRPr lang="en-IN" sz="2000" dirty="0">
              <a:latin typeface="Times New Roman" panose="02020603050405020304" pitchFamily="18" charset="0"/>
              <a:cs typeface="Times New Roman" panose="02020603050405020304" pitchFamily="18" charset="0"/>
            </a:endParaRPr>
          </a:p>
          <a:p>
            <a:pPr algn="just">
              <a:lnSpc>
                <a:spcPct val="10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62333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00AAC-535A-CA5B-CD60-82440E3F8D60}"/>
              </a:ext>
            </a:extLst>
          </p:cNvPr>
          <p:cNvSpPr>
            <a:spLocks noGrp="1"/>
          </p:cNvSpPr>
          <p:nvPr>
            <p:ph type="title"/>
          </p:nvPr>
        </p:nvSpPr>
        <p:spPr>
          <a:xfrm>
            <a:off x="548834" y="411423"/>
            <a:ext cx="10515600" cy="1325563"/>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Flow Chart</a:t>
            </a:r>
          </a:p>
        </p:txBody>
      </p:sp>
      <p:sp>
        <p:nvSpPr>
          <p:cNvPr id="3" name="Content Placeholder 2">
            <a:extLst>
              <a:ext uri="{FF2B5EF4-FFF2-40B4-BE49-F238E27FC236}">
                <a16:creationId xmlns:a16="http://schemas.microsoft.com/office/drawing/2014/main" id="{1975CCD3-A117-4C76-F635-F31538082751}"/>
              </a:ext>
            </a:extLst>
          </p:cNvPr>
          <p:cNvSpPr>
            <a:spLocks noGrp="1"/>
          </p:cNvSpPr>
          <p:nvPr>
            <p:ph idx="1"/>
          </p:nvPr>
        </p:nvSpPr>
        <p:spPr>
          <a:xfrm>
            <a:off x="2444310" y="6364441"/>
            <a:ext cx="8073390" cy="365125"/>
          </a:xfrm>
        </p:spPr>
        <p:txBody>
          <a:bodyPr>
            <a:normAutofit/>
          </a:bodyPr>
          <a:lstStyle/>
          <a:p>
            <a:pPr marL="0" indent="0">
              <a:buNone/>
            </a:pPr>
            <a:r>
              <a:rPr lang="en-US" sz="1800" b="1" dirty="0">
                <a:latin typeface="Times New Roman" panose="02020603050405020304" pitchFamily="18" charset="0"/>
                <a:cs typeface="Times New Roman" panose="02020603050405020304" pitchFamily="18" charset="0"/>
              </a:rPr>
              <a:t>Figure: The system flow diagram of Web-Based Automatic timetable scheduler</a:t>
            </a:r>
            <a:endParaRPr lang="en-IN" sz="1800"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5B431902-F7F1-B6CA-C2B3-0EFECA70F7EC}"/>
              </a:ext>
            </a:extLst>
          </p:cNvPr>
          <p:cNvSpPr>
            <a:spLocks noGrp="1"/>
          </p:cNvSpPr>
          <p:nvPr>
            <p:ph type="sldNum" sz="quarter" idx="12"/>
          </p:nvPr>
        </p:nvSpPr>
        <p:spPr/>
        <p:txBody>
          <a:bodyPr/>
          <a:lstStyle/>
          <a:p>
            <a:fld id="{D19EB42E-18EF-4ADA-8D91-F15AD1AFC8DD}" type="slidenum">
              <a:rPr lang="en-IN" smtClean="0"/>
              <a:t>8</a:t>
            </a:fld>
            <a:endParaRPr lang="en-IN"/>
          </a:p>
        </p:txBody>
      </p:sp>
      <p:pic>
        <p:nvPicPr>
          <p:cNvPr id="7" name="Picture 6">
            <a:extLst>
              <a:ext uri="{FF2B5EF4-FFF2-40B4-BE49-F238E27FC236}">
                <a16:creationId xmlns:a16="http://schemas.microsoft.com/office/drawing/2014/main" id="{488800AD-2A69-1D41-101B-F5DFE541AB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55254" y="327202"/>
            <a:ext cx="4651503" cy="5953018"/>
          </a:xfrm>
          <a:prstGeom prst="rect">
            <a:avLst/>
          </a:prstGeom>
          <a:ln>
            <a:solidFill>
              <a:schemeClr val="tx1"/>
            </a:solidFill>
          </a:ln>
        </p:spPr>
      </p:pic>
    </p:spTree>
    <p:extLst>
      <p:ext uri="{BB962C8B-B14F-4D97-AF65-F5344CB8AC3E}">
        <p14:creationId xmlns:p14="http://schemas.microsoft.com/office/powerpoint/2010/main" val="26351377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08CAEA-E1CA-D7A9-8DB5-7DB344C8DAAB}"/>
              </a:ext>
            </a:extLst>
          </p:cNvPr>
          <p:cNvSpPr>
            <a:spLocks noGrp="1"/>
          </p:cNvSpPr>
          <p:nvPr>
            <p:ph type="sldNum" sz="quarter" idx="12"/>
          </p:nvPr>
        </p:nvSpPr>
        <p:spPr/>
        <p:txBody>
          <a:bodyPr/>
          <a:lstStyle/>
          <a:p>
            <a:fld id="{D19EB42E-18EF-4ADA-8D91-F15AD1AFC8DD}" type="slidenum">
              <a:rPr lang="en-IN" smtClean="0"/>
              <a:t>9</a:t>
            </a:fld>
            <a:endParaRPr lang="en-IN"/>
          </a:p>
        </p:txBody>
      </p:sp>
      <p:sp>
        <p:nvSpPr>
          <p:cNvPr id="2" name="TextBox 1">
            <a:extLst>
              <a:ext uri="{FF2B5EF4-FFF2-40B4-BE49-F238E27FC236}">
                <a16:creationId xmlns:a16="http://schemas.microsoft.com/office/drawing/2014/main" id="{D7F7A8C7-3117-7309-CED2-E96CD391F6E8}"/>
              </a:ext>
            </a:extLst>
          </p:cNvPr>
          <p:cNvSpPr txBox="1"/>
          <p:nvPr/>
        </p:nvSpPr>
        <p:spPr>
          <a:xfrm>
            <a:off x="267261" y="6273225"/>
            <a:ext cx="11917345" cy="584775"/>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Figure : The activity diagram provides a detailed workflow of the web-based timetable scheduling system, focusing on user interactions and system functions.</a:t>
            </a:r>
            <a:endParaRPr lang="en-IN" sz="1600" b="1"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5A6898D3-59EA-B063-3A7F-036683E121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6285" y="331824"/>
            <a:ext cx="7118559" cy="5941401"/>
          </a:xfrm>
          <a:prstGeom prst="rect">
            <a:avLst/>
          </a:prstGeom>
          <a:ln>
            <a:solidFill>
              <a:schemeClr val="tx1"/>
            </a:solidFill>
          </a:ln>
        </p:spPr>
      </p:pic>
    </p:spTree>
    <p:extLst>
      <p:ext uri="{BB962C8B-B14F-4D97-AF65-F5344CB8AC3E}">
        <p14:creationId xmlns:p14="http://schemas.microsoft.com/office/powerpoint/2010/main" val="11509494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4129C-1CC2-9713-93E4-65C6B67809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F43C9A-173B-7D81-194D-EEC21AFF5ADA}"/>
              </a:ext>
            </a:extLst>
          </p:cNvPr>
          <p:cNvSpPr>
            <a:spLocks noGrp="1"/>
          </p:cNvSpPr>
          <p:nvPr>
            <p:ph type="title"/>
          </p:nvPr>
        </p:nvSpPr>
        <p:spPr>
          <a:xfrm>
            <a:off x="548834" y="411423"/>
            <a:ext cx="10515600" cy="1325563"/>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Screenshots</a:t>
            </a:r>
          </a:p>
        </p:txBody>
      </p:sp>
      <p:sp>
        <p:nvSpPr>
          <p:cNvPr id="3" name="Content Placeholder 2">
            <a:extLst>
              <a:ext uri="{FF2B5EF4-FFF2-40B4-BE49-F238E27FC236}">
                <a16:creationId xmlns:a16="http://schemas.microsoft.com/office/drawing/2014/main" id="{83EB32B4-D44C-2BD1-0029-5E4D3486C95B}"/>
              </a:ext>
            </a:extLst>
          </p:cNvPr>
          <p:cNvSpPr>
            <a:spLocks noGrp="1"/>
          </p:cNvSpPr>
          <p:nvPr>
            <p:ph idx="1"/>
          </p:nvPr>
        </p:nvSpPr>
        <p:spPr>
          <a:xfrm>
            <a:off x="3173515" y="6295060"/>
            <a:ext cx="8073390" cy="365125"/>
          </a:xfrm>
        </p:spPr>
        <p:txBody>
          <a:bodyPr>
            <a:normAutofit/>
          </a:bodyPr>
          <a:lstStyle/>
          <a:p>
            <a:pPr marL="0" indent="0">
              <a:buNone/>
            </a:pPr>
            <a:r>
              <a:rPr lang="en-US" sz="1800" b="1" dirty="0">
                <a:latin typeface="Times New Roman" panose="02020603050405020304" pitchFamily="18" charset="0"/>
                <a:cs typeface="Times New Roman" panose="02020603050405020304" pitchFamily="18" charset="0"/>
              </a:rPr>
              <a:t>Home Page with the Instruction for timetable generation</a:t>
            </a:r>
            <a:endParaRPr lang="en-IN" sz="1800" dirty="0">
              <a:latin typeface="Times New Roman" panose="02020603050405020304" pitchFamily="18" charset="0"/>
              <a:cs typeface="Times New Roman" panose="02020603050405020304" pitchFamily="18" charset="0"/>
            </a:endParaRPr>
          </a:p>
        </p:txBody>
      </p:sp>
      <p:sp>
        <p:nvSpPr>
          <p:cNvPr id="8" name="Slide Number Placeholder 7">
            <a:extLst>
              <a:ext uri="{FF2B5EF4-FFF2-40B4-BE49-F238E27FC236}">
                <a16:creationId xmlns:a16="http://schemas.microsoft.com/office/drawing/2014/main" id="{3240A100-2B71-6107-6E8B-EB81C6D6C22D}"/>
              </a:ext>
            </a:extLst>
          </p:cNvPr>
          <p:cNvSpPr>
            <a:spLocks noGrp="1"/>
          </p:cNvSpPr>
          <p:nvPr>
            <p:ph type="sldNum" sz="quarter" idx="12"/>
          </p:nvPr>
        </p:nvSpPr>
        <p:spPr/>
        <p:txBody>
          <a:bodyPr/>
          <a:lstStyle/>
          <a:p>
            <a:fld id="{D19EB42E-18EF-4ADA-8D91-F15AD1AFC8DD}" type="slidenum">
              <a:rPr lang="en-IN" smtClean="0"/>
              <a:t>10</a:t>
            </a:fld>
            <a:endParaRPr lang="en-IN" dirty="0"/>
          </a:p>
        </p:txBody>
      </p:sp>
      <p:pic>
        <p:nvPicPr>
          <p:cNvPr id="5" name="Picture 4">
            <a:extLst>
              <a:ext uri="{FF2B5EF4-FFF2-40B4-BE49-F238E27FC236}">
                <a16:creationId xmlns:a16="http://schemas.microsoft.com/office/drawing/2014/main" id="{92DB0AC7-A877-2B0A-BC7A-9529C3056627}"/>
              </a:ext>
            </a:extLst>
          </p:cNvPr>
          <p:cNvPicPr>
            <a:picLocks noChangeAspect="1"/>
          </p:cNvPicPr>
          <p:nvPr/>
        </p:nvPicPr>
        <p:blipFill>
          <a:blip r:embed="rId2">
            <a:extLst>
              <a:ext uri="{28A0092B-C50C-407E-A947-70E740481C1C}">
                <a14:useLocalDpi xmlns:a14="http://schemas.microsoft.com/office/drawing/2010/main" val="0"/>
              </a:ext>
            </a:extLst>
          </a:blip>
          <a:srcRect t="18337" r="21013"/>
          <a:stretch>
            <a:fillRect/>
          </a:stretch>
        </p:blipFill>
        <p:spPr>
          <a:xfrm>
            <a:off x="2386437" y="1457706"/>
            <a:ext cx="8073390" cy="4434290"/>
          </a:xfrm>
          <a:prstGeom prst="rect">
            <a:avLst/>
          </a:prstGeom>
          <a:ln>
            <a:solidFill>
              <a:schemeClr val="tx1"/>
            </a:solidFill>
          </a:ln>
        </p:spPr>
      </p:pic>
    </p:spTree>
    <p:extLst>
      <p:ext uri="{BB962C8B-B14F-4D97-AF65-F5344CB8AC3E}">
        <p14:creationId xmlns:p14="http://schemas.microsoft.com/office/powerpoint/2010/main" val="3263218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9B4B681-AE41-CD05-54A5-65A6EA4E3496}"/>
              </a:ext>
            </a:extLst>
          </p:cNvPr>
          <p:cNvSpPr>
            <a:spLocks noGrp="1"/>
          </p:cNvSpPr>
          <p:nvPr>
            <p:ph type="sldNum" sz="quarter" idx="12"/>
          </p:nvPr>
        </p:nvSpPr>
        <p:spPr/>
        <p:txBody>
          <a:bodyPr/>
          <a:lstStyle/>
          <a:p>
            <a:fld id="{D19EB42E-18EF-4ADA-8D91-F15AD1AFC8DD}" type="slidenum">
              <a:rPr lang="en-IN" smtClean="0"/>
              <a:t>11</a:t>
            </a:fld>
            <a:endParaRPr lang="en-IN"/>
          </a:p>
        </p:txBody>
      </p:sp>
      <p:pic>
        <p:nvPicPr>
          <p:cNvPr id="11" name="Picture 10">
            <a:extLst>
              <a:ext uri="{FF2B5EF4-FFF2-40B4-BE49-F238E27FC236}">
                <a16:creationId xmlns:a16="http://schemas.microsoft.com/office/drawing/2014/main" id="{92DDAC90-D5E1-A959-8EE6-8A6C19C83C0B}"/>
              </a:ext>
            </a:extLst>
          </p:cNvPr>
          <p:cNvPicPr>
            <a:picLocks noChangeAspect="1"/>
          </p:cNvPicPr>
          <p:nvPr/>
        </p:nvPicPr>
        <p:blipFill>
          <a:blip r:embed="rId2">
            <a:extLst>
              <a:ext uri="{28A0092B-C50C-407E-A947-70E740481C1C}">
                <a14:useLocalDpi xmlns:a14="http://schemas.microsoft.com/office/drawing/2010/main" val="0"/>
              </a:ext>
            </a:extLst>
          </a:blip>
          <a:srcRect l="35419" t="19245" r="21195"/>
          <a:stretch>
            <a:fillRect/>
          </a:stretch>
        </p:blipFill>
        <p:spPr>
          <a:xfrm>
            <a:off x="6528121" y="1125836"/>
            <a:ext cx="5289631" cy="5230514"/>
          </a:xfrm>
          <a:prstGeom prst="rect">
            <a:avLst/>
          </a:prstGeom>
          <a:ln>
            <a:solidFill>
              <a:schemeClr val="tx1"/>
            </a:solidFill>
          </a:ln>
        </p:spPr>
      </p:pic>
      <p:pic>
        <p:nvPicPr>
          <p:cNvPr id="9" name="Picture 8">
            <a:extLst>
              <a:ext uri="{FF2B5EF4-FFF2-40B4-BE49-F238E27FC236}">
                <a16:creationId xmlns:a16="http://schemas.microsoft.com/office/drawing/2014/main" id="{F6A76F42-2ED0-F7FB-CF2B-29150004DC1A}"/>
              </a:ext>
            </a:extLst>
          </p:cNvPr>
          <p:cNvPicPr>
            <a:picLocks noChangeAspect="1"/>
          </p:cNvPicPr>
          <p:nvPr/>
        </p:nvPicPr>
        <p:blipFill>
          <a:blip r:embed="rId3">
            <a:extLst>
              <a:ext uri="{28A0092B-C50C-407E-A947-70E740481C1C}">
                <a14:useLocalDpi xmlns:a14="http://schemas.microsoft.com/office/drawing/2010/main" val="0"/>
              </a:ext>
            </a:extLst>
          </a:blip>
          <a:srcRect l="34656" t="19940" r="21278"/>
          <a:stretch>
            <a:fillRect/>
          </a:stretch>
        </p:blipFill>
        <p:spPr>
          <a:xfrm>
            <a:off x="810227" y="1125836"/>
            <a:ext cx="5372460" cy="5185470"/>
          </a:xfrm>
          <a:prstGeom prst="rect">
            <a:avLst/>
          </a:prstGeom>
          <a:ln>
            <a:solidFill>
              <a:schemeClr val="tx1"/>
            </a:solidFill>
          </a:ln>
        </p:spPr>
      </p:pic>
      <p:sp>
        <p:nvSpPr>
          <p:cNvPr id="3" name="TextBox 2">
            <a:extLst>
              <a:ext uri="{FF2B5EF4-FFF2-40B4-BE49-F238E27FC236}">
                <a16:creationId xmlns:a16="http://schemas.microsoft.com/office/drawing/2014/main" id="{7AE7C364-0330-9F58-3693-6F734519D009}"/>
              </a:ext>
            </a:extLst>
          </p:cNvPr>
          <p:cNvSpPr txBox="1"/>
          <p:nvPr/>
        </p:nvSpPr>
        <p:spPr>
          <a:xfrm>
            <a:off x="2226288" y="392764"/>
            <a:ext cx="8300606" cy="523220"/>
          </a:xfrm>
          <a:prstGeom prst="rect">
            <a:avLst/>
          </a:prstGeom>
          <a:noFill/>
        </p:spPr>
        <p:txBody>
          <a:bodyPr wrap="none" rtlCol="0">
            <a:spAutoFit/>
          </a:bodyPr>
          <a:lstStyle/>
          <a:p>
            <a:r>
              <a:rPr lang="en-US" sz="2800" b="1" dirty="0">
                <a:latin typeface="Times New Roman" panose="02020603050405020304" pitchFamily="18" charset="0"/>
                <a:cs typeface="Times New Roman" panose="02020603050405020304" pitchFamily="18" charset="0"/>
              </a:rPr>
              <a:t>Department, Semester and faculty management page</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14705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134EC4F-A7F0-1EC3-179C-75D0CC93D52C}"/>
              </a:ext>
            </a:extLst>
          </p:cNvPr>
          <p:cNvSpPr>
            <a:spLocks noGrp="1"/>
          </p:cNvSpPr>
          <p:nvPr>
            <p:ph type="sldNum" sz="quarter" idx="12"/>
          </p:nvPr>
        </p:nvSpPr>
        <p:spPr/>
        <p:txBody>
          <a:bodyPr/>
          <a:lstStyle/>
          <a:p>
            <a:fld id="{D19EB42E-18EF-4ADA-8D91-F15AD1AFC8DD}" type="slidenum">
              <a:rPr lang="en-IN" smtClean="0"/>
              <a:t>12</a:t>
            </a:fld>
            <a:endParaRPr lang="en-IN"/>
          </a:p>
        </p:txBody>
      </p:sp>
      <p:pic>
        <p:nvPicPr>
          <p:cNvPr id="15" name="Picture 14">
            <a:extLst>
              <a:ext uri="{FF2B5EF4-FFF2-40B4-BE49-F238E27FC236}">
                <a16:creationId xmlns:a16="http://schemas.microsoft.com/office/drawing/2014/main" id="{859DCA19-3A50-6AE5-9D5E-83FFB551F328}"/>
              </a:ext>
            </a:extLst>
          </p:cNvPr>
          <p:cNvPicPr>
            <a:picLocks noChangeAspect="1"/>
          </p:cNvPicPr>
          <p:nvPr/>
        </p:nvPicPr>
        <p:blipFill>
          <a:blip r:embed="rId2">
            <a:extLst>
              <a:ext uri="{28A0092B-C50C-407E-A947-70E740481C1C}">
                <a14:useLocalDpi xmlns:a14="http://schemas.microsoft.com/office/drawing/2010/main" val="0"/>
              </a:ext>
            </a:extLst>
          </a:blip>
          <a:srcRect l="36946" t="18354" r="23845"/>
          <a:stretch>
            <a:fillRect/>
          </a:stretch>
        </p:blipFill>
        <p:spPr>
          <a:xfrm>
            <a:off x="6536801" y="1068121"/>
            <a:ext cx="4780346" cy="5288229"/>
          </a:xfrm>
          <a:prstGeom prst="rect">
            <a:avLst/>
          </a:prstGeom>
          <a:ln>
            <a:solidFill>
              <a:schemeClr val="tx1"/>
            </a:solidFill>
          </a:ln>
        </p:spPr>
      </p:pic>
      <p:pic>
        <p:nvPicPr>
          <p:cNvPr id="13" name="Picture 12">
            <a:extLst>
              <a:ext uri="{FF2B5EF4-FFF2-40B4-BE49-F238E27FC236}">
                <a16:creationId xmlns:a16="http://schemas.microsoft.com/office/drawing/2014/main" id="{CD2FB09D-71B3-CA1F-4B0B-69C0B7ED1C6A}"/>
              </a:ext>
            </a:extLst>
          </p:cNvPr>
          <p:cNvPicPr>
            <a:picLocks noChangeAspect="1"/>
          </p:cNvPicPr>
          <p:nvPr/>
        </p:nvPicPr>
        <p:blipFill>
          <a:blip r:embed="rId3">
            <a:extLst>
              <a:ext uri="{28A0092B-C50C-407E-A947-70E740481C1C}">
                <a14:useLocalDpi xmlns:a14="http://schemas.microsoft.com/office/drawing/2010/main" val="0"/>
              </a:ext>
            </a:extLst>
          </a:blip>
          <a:srcRect l="37607" t="18354" r="24419"/>
          <a:stretch>
            <a:fillRect/>
          </a:stretch>
        </p:blipFill>
        <p:spPr>
          <a:xfrm>
            <a:off x="874853" y="1068121"/>
            <a:ext cx="4629873" cy="5288230"/>
          </a:xfrm>
          <a:prstGeom prst="rect">
            <a:avLst/>
          </a:prstGeom>
          <a:ln>
            <a:solidFill>
              <a:schemeClr val="tx1"/>
            </a:solidFill>
          </a:ln>
        </p:spPr>
      </p:pic>
      <p:sp>
        <p:nvSpPr>
          <p:cNvPr id="3" name="TextBox 2">
            <a:extLst>
              <a:ext uri="{FF2B5EF4-FFF2-40B4-BE49-F238E27FC236}">
                <a16:creationId xmlns:a16="http://schemas.microsoft.com/office/drawing/2014/main" id="{14DDDD43-BD3D-30C9-6B65-6EE28A48CE3C}"/>
              </a:ext>
            </a:extLst>
          </p:cNvPr>
          <p:cNvSpPr txBox="1"/>
          <p:nvPr/>
        </p:nvSpPr>
        <p:spPr>
          <a:xfrm>
            <a:off x="1462359" y="334891"/>
            <a:ext cx="9267281" cy="523220"/>
          </a:xfrm>
          <a:prstGeom prst="rect">
            <a:avLst/>
          </a:prstGeom>
          <a:noFill/>
        </p:spPr>
        <p:txBody>
          <a:bodyPr wrap="none" rtlCol="0">
            <a:spAutoFit/>
          </a:bodyPr>
          <a:lstStyle/>
          <a:p>
            <a:r>
              <a:rPr lang="en-US" sz="2800" b="1" dirty="0">
                <a:latin typeface="Times New Roman" panose="02020603050405020304" pitchFamily="18" charset="0"/>
                <a:cs typeface="Times New Roman" panose="02020603050405020304" pitchFamily="18" charset="0"/>
              </a:rPr>
              <a:t>Course management and Course faculty Sem mapping page</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762629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694DA22-1C59-2279-D236-E6D421A9BE73}"/>
              </a:ext>
            </a:extLst>
          </p:cNvPr>
          <p:cNvSpPr>
            <a:spLocks noGrp="1"/>
          </p:cNvSpPr>
          <p:nvPr>
            <p:ph type="sldNum" sz="quarter" idx="12"/>
          </p:nvPr>
        </p:nvSpPr>
        <p:spPr/>
        <p:txBody>
          <a:bodyPr/>
          <a:lstStyle/>
          <a:p>
            <a:fld id="{D19EB42E-18EF-4ADA-8D91-F15AD1AFC8DD}" type="slidenum">
              <a:rPr lang="en-IN" smtClean="0"/>
              <a:t>13</a:t>
            </a:fld>
            <a:endParaRPr lang="en-IN"/>
          </a:p>
        </p:txBody>
      </p:sp>
      <p:pic>
        <p:nvPicPr>
          <p:cNvPr id="29" name="Picture 28">
            <a:extLst>
              <a:ext uri="{FF2B5EF4-FFF2-40B4-BE49-F238E27FC236}">
                <a16:creationId xmlns:a16="http://schemas.microsoft.com/office/drawing/2014/main" id="{F3396EE4-A2BE-ACF9-1D0A-CFAFED7C7941}"/>
              </a:ext>
            </a:extLst>
          </p:cNvPr>
          <p:cNvPicPr>
            <a:picLocks noChangeAspect="1"/>
          </p:cNvPicPr>
          <p:nvPr/>
        </p:nvPicPr>
        <p:blipFill>
          <a:blip r:embed="rId2">
            <a:extLst>
              <a:ext uri="{28A0092B-C50C-407E-A947-70E740481C1C}">
                <a14:useLocalDpi xmlns:a14="http://schemas.microsoft.com/office/drawing/2010/main" val="0"/>
              </a:ext>
            </a:extLst>
          </a:blip>
          <a:srcRect l="5359" t="34309" r="28112" b="14403"/>
          <a:stretch>
            <a:fillRect/>
          </a:stretch>
        </p:blipFill>
        <p:spPr>
          <a:xfrm>
            <a:off x="5512140" y="939427"/>
            <a:ext cx="6405812" cy="2623474"/>
          </a:xfrm>
          <a:prstGeom prst="rect">
            <a:avLst/>
          </a:prstGeom>
          <a:ln>
            <a:solidFill>
              <a:schemeClr val="tx1"/>
            </a:solidFill>
          </a:ln>
        </p:spPr>
      </p:pic>
      <p:pic>
        <p:nvPicPr>
          <p:cNvPr id="27" name="Picture 26">
            <a:extLst>
              <a:ext uri="{FF2B5EF4-FFF2-40B4-BE49-F238E27FC236}">
                <a16:creationId xmlns:a16="http://schemas.microsoft.com/office/drawing/2014/main" id="{323ADD82-643F-798B-52C3-2F796A01F04E}"/>
              </a:ext>
            </a:extLst>
          </p:cNvPr>
          <p:cNvPicPr>
            <a:picLocks noChangeAspect="1"/>
          </p:cNvPicPr>
          <p:nvPr/>
        </p:nvPicPr>
        <p:blipFill>
          <a:blip r:embed="rId3">
            <a:extLst>
              <a:ext uri="{28A0092B-C50C-407E-A947-70E740481C1C}">
                <a14:useLocalDpi xmlns:a14="http://schemas.microsoft.com/office/drawing/2010/main" val="0"/>
              </a:ext>
            </a:extLst>
          </a:blip>
          <a:srcRect l="5580" t="28749" r="29958" b="15138"/>
          <a:stretch>
            <a:fillRect/>
          </a:stretch>
        </p:blipFill>
        <p:spPr>
          <a:xfrm>
            <a:off x="5512140" y="3644217"/>
            <a:ext cx="6405812" cy="2962335"/>
          </a:xfrm>
          <a:prstGeom prst="rect">
            <a:avLst/>
          </a:prstGeom>
          <a:ln>
            <a:solidFill>
              <a:schemeClr val="tx1"/>
            </a:solidFill>
          </a:ln>
        </p:spPr>
      </p:pic>
      <p:pic>
        <p:nvPicPr>
          <p:cNvPr id="21" name="Picture 20">
            <a:extLst>
              <a:ext uri="{FF2B5EF4-FFF2-40B4-BE49-F238E27FC236}">
                <a16:creationId xmlns:a16="http://schemas.microsoft.com/office/drawing/2014/main" id="{7FDFAAD9-2518-16A3-388B-3D7664F7EBC0}"/>
              </a:ext>
            </a:extLst>
          </p:cNvPr>
          <p:cNvPicPr>
            <a:picLocks noChangeAspect="1"/>
          </p:cNvPicPr>
          <p:nvPr/>
        </p:nvPicPr>
        <p:blipFill>
          <a:blip r:embed="rId4">
            <a:extLst>
              <a:ext uri="{28A0092B-C50C-407E-A947-70E740481C1C}">
                <a14:useLocalDpi xmlns:a14="http://schemas.microsoft.com/office/drawing/2010/main" val="0"/>
              </a:ext>
            </a:extLst>
          </a:blip>
          <a:srcRect l="34787" t="21792" r="25150"/>
          <a:stretch>
            <a:fillRect/>
          </a:stretch>
        </p:blipFill>
        <p:spPr>
          <a:xfrm>
            <a:off x="474561" y="1030146"/>
            <a:ext cx="4884517" cy="5065511"/>
          </a:xfrm>
          <a:prstGeom prst="rect">
            <a:avLst/>
          </a:prstGeom>
          <a:ln>
            <a:solidFill>
              <a:schemeClr val="tx1"/>
            </a:solidFill>
          </a:ln>
        </p:spPr>
      </p:pic>
      <p:sp>
        <p:nvSpPr>
          <p:cNvPr id="3" name="TextBox 2">
            <a:extLst>
              <a:ext uri="{FF2B5EF4-FFF2-40B4-BE49-F238E27FC236}">
                <a16:creationId xmlns:a16="http://schemas.microsoft.com/office/drawing/2014/main" id="{10E37F7D-EB5F-EDEE-B5B4-640E46DA025A}"/>
              </a:ext>
            </a:extLst>
          </p:cNvPr>
          <p:cNvSpPr txBox="1"/>
          <p:nvPr/>
        </p:nvSpPr>
        <p:spPr>
          <a:xfrm>
            <a:off x="2215899" y="334891"/>
            <a:ext cx="7760201" cy="523220"/>
          </a:xfrm>
          <a:prstGeom prst="rect">
            <a:avLst/>
          </a:prstGeom>
          <a:noFill/>
        </p:spPr>
        <p:txBody>
          <a:bodyPr wrap="none" rtlCol="0">
            <a:spAutoFit/>
          </a:bodyPr>
          <a:lstStyle/>
          <a:p>
            <a:r>
              <a:rPr lang="en-US" sz="2800" b="1" dirty="0">
                <a:latin typeface="Times New Roman" panose="02020603050405020304" pitchFamily="18" charset="0"/>
                <a:cs typeface="Times New Roman" panose="02020603050405020304" pitchFamily="18" charset="0"/>
              </a:rPr>
              <a:t>Generated Timetable and Downloaded Timetable</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15419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1039D40-F0BA-4BD8-FF0C-58EDD9C69537}"/>
              </a:ext>
            </a:extLst>
          </p:cNvPr>
          <p:cNvSpPr>
            <a:spLocks noGrp="1"/>
          </p:cNvSpPr>
          <p:nvPr>
            <p:ph type="sldNum" sz="quarter" idx="12"/>
          </p:nvPr>
        </p:nvSpPr>
        <p:spPr/>
        <p:txBody>
          <a:bodyPr/>
          <a:lstStyle/>
          <a:p>
            <a:fld id="{D19EB42E-18EF-4ADA-8D91-F15AD1AFC8DD}" type="slidenum">
              <a:rPr lang="en-IN" smtClean="0"/>
              <a:t>14</a:t>
            </a:fld>
            <a:endParaRPr lang="en-IN"/>
          </a:p>
        </p:txBody>
      </p:sp>
      <p:pic>
        <p:nvPicPr>
          <p:cNvPr id="33" name="Picture 32">
            <a:extLst>
              <a:ext uri="{FF2B5EF4-FFF2-40B4-BE49-F238E27FC236}">
                <a16:creationId xmlns:a16="http://schemas.microsoft.com/office/drawing/2014/main" id="{8B20CF94-2C7B-383D-04BE-7A8EAE064AF3}"/>
              </a:ext>
            </a:extLst>
          </p:cNvPr>
          <p:cNvPicPr>
            <a:picLocks noChangeAspect="1"/>
          </p:cNvPicPr>
          <p:nvPr/>
        </p:nvPicPr>
        <p:blipFill>
          <a:blip r:embed="rId2">
            <a:extLst>
              <a:ext uri="{28A0092B-C50C-407E-A947-70E740481C1C}">
                <a14:useLocalDpi xmlns:a14="http://schemas.microsoft.com/office/drawing/2010/main" val="0"/>
              </a:ext>
            </a:extLst>
          </a:blip>
          <a:srcRect l="999" t="16438" r="22102" b="358"/>
          <a:stretch>
            <a:fillRect/>
          </a:stretch>
        </p:blipFill>
        <p:spPr>
          <a:xfrm>
            <a:off x="6219931" y="1317211"/>
            <a:ext cx="5888650" cy="3384847"/>
          </a:xfrm>
          <a:prstGeom prst="rect">
            <a:avLst/>
          </a:prstGeom>
          <a:ln>
            <a:solidFill>
              <a:schemeClr val="tx1"/>
            </a:solidFill>
          </a:ln>
        </p:spPr>
      </p:pic>
      <p:pic>
        <p:nvPicPr>
          <p:cNvPr id="31" name="Picture 30">
            <a:extLst>
              <a:ext uri="{FF2B5EF4-FFF2-40B4-BE49-F238E27FC236}">
                <a16:creationId xmlns:a16="http://schemas.microsoft.com/office/drawing/2014/main" id="{4FBA5517-FC00-FA78-6E62-C9D257C2C1E3}"/>
              </a:ext>
            </a:extLst>
          </p:cNvPr>
          <p:cNvPicPr>
            <a:picLocks noChangeAspect="1"/>
          </p:cNvPicPr>
          <p:nvPr/>
        </p:nvPicPr>
        <p:blipFill>
          <a:blip r:embed="rId3">
            <a:extLst>
              <a:ext uri="{28A0092B-C50C-407E-A947-70E740481C1C}">
                <a14:useLocalDpi xmlns:a14="http://schemas.microsoft.com/office/drawing/2010/main" val="0"/>
              </a:ext>
            </a:extLst>
          </a:blip>
          <a:srcRect l="1481" t="16268" r="21194"/>
          <a:stretch>
            <a:fillRect/>
          </a:stretch>
        </p:blipFill>
        <p:spPr>
          <a:xfrm>
            <a:off x="207350" y="1314474"/>
            <a:ext cx="5888650" cy="3387584"/>
          </a:xfrm>
          <a:prstGeom prst="rect">
            <a:avLst/>
          </a:prstGeom>
          <a:ln>
            <a:solidFill>
              <a:schemeClr val="tx1"/>
            </a:solidFill>
          </a:ln>
        </p:spPr>
      </p:pic>
      <p:sp>
        <p:nvSpPr>
          <p:cNvPr id="3" name="TextBox 2">
            <a:extLst>
              <a:ext uri="{FF2B5EF4-FFF2-40B4-BE49-F238E27FC236}">
                <a16:creationId xmlns:a16="http://schemas.microsoft.com/office/drawing/2014/main" id="{028D97AC-2345-D7D9-9F7D-BEFA55752D0D}"/>
              </a:ext>
            </a:extLst>
          </p:cNvPr>
          <p:cNvSpPr txBox="1"/>
          <p:nvPr/>
        </p:nvSpPr>
        <p:spPr>
          <a:xfrm>
            <a:off x="4320532" y="590309"/>
            <a:ext cx="3798797" cy="523220"/>
          </a:xfrm>
          <a:prstGeom prst="rect">
            <a:avLst/>
          </a:prstGeom>
          <a:noFill/>
        </p:spPr>
        <p:txBody>
          <a:bodyPr wrap="none" rtlCol="0">
            <a:spAutoFit/>
          </a:bodyPr>
          <a:lstStyle/>
          <a:p>
            <a:r>
              <a:rPr lang="en-US" sz="2800" b="1" dirty="0">
                <a:latin typeface="Times New Roman" panose="02020603050405020304" pitchFamily="18" charset="0"/>
                <a:cs typeface="Times New Roman" panose="02020603050405020304" pitchFamily="18" charset="0"/>
              </a:rPr>
              <a:t>Timetable </a:t>
            </a:r>
            <a:r>
              <a:rPr lang="en-US" sz="2800" b="1" dirty="0" err="1">
                <a:latin typeface="Times New Roman" panose="02020603050405020304" pitchFamily="18" charset="0"/>
                <a:cs typeface="Times New Roman" panose="02020603050405020304" pitchFamily="18" charset="0"/>
              </a:rPr>
              <a:t>Visualisation</a:t>
            </a:r>
            <a:endParaRPr lang="en-IN" sz="2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26814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C68626-3BE7-4580-F05D-866CB54DE4AC}"/>
              </a:ext>
            </a:extLst>
          </p:cNvPr>
          <p:cNvSpPr>
            <a:spLocks noGrp="1"/>
          </p:cNvSpPr>
          <p:nvPr>
            <p:ph type="title"/>
          </p:nvPr>
        </p:nvSpPr>
        <p:spPr>
          <a:xfrm>
            <a:off x="548833" y="399849"/>
            <a:ext cx="10515600" cy="1325563"/>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D8046ABC-16CE-210D-17D4-7F4327520C78}"/>
              </a:ext>
            </a:extLst>
          </p:cNvPr>
          <p:cNvSpPr>
            <a:spLocks noGrp="1"/>
          </p:cNvSpPr>
          <p:nvPr>
            <p:ph idx="1"/>
          </p:nvPr>
        </p:nvSpPr>
        <p:spPr>
          <a:xfrm>
            <a:off x="329381" y="1725412"/>
            <a:ext cx="11533238" cy="3759098"/>
          </a:xfrm>
        </p:spPr>
        <p:txBody>
          <a:bodyPr>
            <a:normAutofit/>
          </a:bodyPr>
          <a:lstStyle/>
          <a:p>
            <a:pPr algn="just">
              <a:lnSpc>
                <a:spcPct val="150000"/>
              </a:lnSpc>
            </a:pPr>
            <a:r>
              <a:rPr lang="en-US" sz="2400" dirty="0">
                <a:latin typeface="Times New Roman" panose="02020603050405020304" pitchFamily="18" charset="0"/>
                <a:cs typeface="Times New Roman" panose="02020603050405020304" pitchFamily="18" charset="0"/>
              </a:rPr>
              <a:t>The Web-Based Automatic Timetable Scheduler effectively automates the process of academic timetable generation using a Genetic Algorithm. The system produces conflict-free schedules while considering faculty availability and institutional constraints. It reduces manual effort, improves scheduling accuracy, and provides a reliable solution for real-world academic environments.</a:t>
            </a:r>
          </a:p>
        </p:txBody>
      </p:sp>
      <p:sp>
        <p:nvSpPr>
          <p:cNvPr id="8" name="Slide Number Placeholder 7">
            <a:extLst>
              <a:ext uri="{FF2B5EF4-FFF2-40B4-BE49-F238E27FC236}">
                <a16:creationId xmlns:a16="http://schemas.microsoft.com/office/drawing/2014/main" id="{BB230758-FB0A-8344-3307-F9D313073EE3}"/>
              </a:ext>
            </a:extLst>
          </p:cNvPr>
          <p:cNvSpPr>
            <a:spLocks noGrp="1"/>
          </p:cNvSpPr>
          <p:nvPr>
            <p:ph type="sldNum" sz="quarter" idx="12"/>
          </p:nvPr>
        </p:nvSpPr>
        <p:spPr/>
        <p:txBody>
          <a:bodyPr/>
          <a:lstStyle/>
          <a:p>
            <a:fld id="{D19EB42E-18EF-4ADA-8D91-F15AD1AFC8DD}" type="slidenum">
              <a:rPr lang="en-IN" smtClean="0"/>
              <a:t>15</a:t>
            </a:fld>
            <a:endParaRPr lang="en-IN"/>
          </a:p>
        </p:txBody>
      </p:sp>
    </p:spTree>
    <p:extLst>
      <p:ext uri="{BB962C8B-B14F-4D97-AF65-F5344CB8AC3E}">
        <p14:creationId xmlns:p14="http://schemas.microsoft.com/office/powerpoint/2010/main" val="10255375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E73AD47-FF7D-1A0B-9221-7920DDFBFB52}"/>
              </a:ext>
            </a:extLst>
          </p:cNvPr>
          <p:cNvSpPr>
            <a:spLocks noGrp="1"/>
          </p:cNvSpPr>
          <p:nvPr>
            <p:ph type="sldNum" sz="quarter" idx="12"/>
          </p:nvPr>
        </p:nvSpPr>
        <p:spPr/>
        <p:txBody>
          <a:bodyPr/>
          <a:lstStyle/>
          <a:p>
            <a:fld id="{D19EB42E-18EF-4ADA-8D91-F15AD1AFC8DD}" type="slidenum">
              <a:rPr lang="en-IN" smtClean="0"/>
              <a:t>16</a:t>
            </a:fld>
            <a:endParaRPr lang="en-IN"/>
          </a:p>
        </p:txBody>
      </p:sp>
    </p:spTree>
    <p:extLst>
      <p:ext uri="{BB962C8B-B14F-4D97-AF65-F5344CB8AC3E}">
        <p14:creationId xmlns:p14="http://schemas.microsoft.com/office/powerpoint/2010/main" val="2960007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5FE6BBB2-907C-5F0F-BD30-50F7E58A5481}"/>
              </a:ext>
            </a:extLst>
          </p:cNvPr>
          <p:cNvSpPr>
            <a:spLocks noGrp="1"/>
          </p:cNvSpPr>
          <p:nvPr>
            <p:ph type="title"/>
          </p:nvPr>
        </p:nvSpPr>
        <p:spPr>
          <a:xfrm>
            <a:off x="730469" y="136525"/>
            <a:ext cx="10407869" cy="843565"/>
          </a:xfrm>
        </p:spPr>
        <p:txBody>
          <a:bodyPr/>
          <a:lstStyle/>
          <a:p>
            <a:pPr marL="571500" indent="-571500">
              <a:buFont typeface="Wingdings" panose="05000000000000000000" pitchFamily="2" charset="2"/>
              <a:buChar char="Ø"/>
            </a:pPr>
            <a:r>
              <a:rPr lang="en-IN" dirty="0">
                <a:solidFill>
                  <a:schemeClr val="accent1">
                    <a:lumMod val="75000"/>
                  </a:schemeClr>
                </a:solidFill>
                <a:latin typeface="Times New Roman" panose="02020603050405020304" pitchFamily="18" charset="0"/>
                <a:cs typeface="Times New Roman" panose="02020603050405020304" pitchFamily="18" charset="0"/>
              </a:rPr>
              <a:t>Genetic Algorithm</a:t>
            </a:r>
            <a:endParaRPr lang="en-IN" dirty="0"/>
          </a:p>
        </p:txBody>
      </p:sp>
      <p:sp>
        <p:nvSpPr>
          <p:cNvPr id="6" name="Content Placeholder 2">
            <a:extLst>
              <a:ext uri="{FF2B5EF4-FFF2-40B4-BE49-F238E27FC236}">
                <a16:creationId xmlns:a16="http://schemas.microsoft.com/office/drawing/2014/main" id="{BE2AFB1E-6686-1C10-E106-4774151D31DD}"/>
              </a:ext>
            </a:extLst>
          </p:cNvPr>
          <p:cNvSpPr>
            <a:spLocks noGrp="1"/>
          </p:cNvSpPr>
          <p:nvPr>
            <p:ph idx="1"/>
          </p:nvPr>
        </p:nvSpPr>
        <p:spPr>
          <a:xfrm>
            <a:off x="334297" y="916679"/>
            <a:ext cx="11523406" cy="5877910"/>
          </a:xfrm>
        </p:spPr>
        <p:txBody>
          <a:bodyPr>
            <a:noAutofit/>
          </a:bodyPr>
          <a:lstStyle/>
          <a:p>
            <a:pPr algn="just">
              <a:lnSpc>
                <a:spcPct val="150000"/>
              </a:lnSpc>
            </a:pPr>
            <a:r>
              <a:rPr lang="en-US" sz="2000" b="0" i="0" dirty="0">
                <a:effectLst/>
                <a:latin typeface="Times New Roman" panose="02020603050405020304" pitchFamily="18" charset="0"/>
                <a:cs typeface="Times New Roman" panose="02020603050405020304" pitchFamily="18" charset="0"/>
              </a:rPr>
              <a:t>Genetic algorithms are commonly used to generate high-quality solutions to </a:t>
            </a:r>
            <a:r>
              <a:rPr lang="en-US" sz="2000" b="0" i="0" u="none" strike="noStrike" dirty="0">
                <a:effectLst/>
                <a:latin typeface="Times New Roman" panose="02020603050405020304" pitchFamily="18" charset="0"/>
                <a:cs typeface="Times New Roman" panose="02020603050405020304" pitchFamily="18" charset="0"/>
              </a:rPr>
              <a:t>optimization</a:t>
            </a:r>
            <a:r>
              <a:rPr lang="en-US" sz="2000" b="0" i="0" dirty="0">
                <a:effectLst/>
                <a:latin typeface="Times New Roman" panose="02020603050405020304" pitchFamily="18" charset="0"/>
                <a:cs typeface="Times New Roman" panose="02020603050405020304" pitchFamily="18" charset="0"/>
              </a:rPr>
              <a:t> and </a:t>
            </a:r>
            <a:r>
              <a:rPr lang="en-US" sz="2000" b="0" i="0" u="none" strike="noStrike" dirty="0">
                <a:effectLst/>
                <a:latin typeface="Times New Roman" panose="02020603050405020304" pitchFamily="18" charset="0"/>
                <a:cs typeface="Times New Roman" panose="02020603050405020304" pitchFamily="18" charset="0"/>
              </a:rPr>
              <a:t>search problems</a:t>
            </a:r>
            <a:r>
              <a:rPr lang="en-US" sz="2000" b="0" i="0" dirty="0">
                <a:effectLst/>
                <a:latin typeface="Times New Roman" panose="02020603050405020304" pitchFamily="18" charset="0"/>
                <a:cs typeface="Times New Roman" panose="02020603050405020304" pitchFamily="18" charset="0"/>
              </a:rPr>
              <a:t> via biologically inspired operators such as </a:t>
            </a:r>
            <a:r>
              <a:rPr lang="en-US" sz="2000" b="0" i="0" u="none" strike="noStrike" dirty="0">
                <a:effectLst/>
                <a:latin typeface="Times New Roman" panose="02020603050405020304" pitchFamily="18" charset="0"/>
                <a:cs typeface="Times New Roman" panose="02020603050405020304" pitchFamily="18" charset="0"/>
              </a:rPr>
              <a:t>selection</a:t>
            </a:r>
            <a:r>
              <a:rPr lang="en-US" sz="2000" b="0" i="0" dirty="0">
                <a:effectLst/>
                <a:latin typeface="Times New Roman" panose="02020603050405020304" pitchFamily="18" charset="0"/>
                <a:cs typeface="Times New Roman" panose="02020603050405020304" pitchFamily="18" charset="0"/>
              </a:rPr>
              <a:t>, </a:t>
            </a:r>
            <a:r>
              <a:rPr lang="en-US" sz="2000" b="0" i="0" u="none" strike="noStrike" dirty="0">
                <a:effectLst/>
                <a:latin typeface="Times New Roman" panose="02020603050405020304" pitchFamily="18" charset="0"/>
                <a:cs typeface="Times New Roman" panose="02020603050405020304" pitchFamily="18" charset="0"/>
              </a:rPr>
              <a:t>crossover</a:t>
            </a:r>
            <a:r>
              <a:rPr lang="en-US" sz="2000" b="0" i="0" dirty="0">
                <a:effectLst/>
                <a:latin typeface="Times New Roman" panose="02020603050405020304" pitchFamily="18" charset="0"/>
                <a:cs typeface="Times New Roman" panose="02020603050405020304" pitchFamily="18" charset="0"/>
              </a:rPr>
              <a:t>, and </a:t>
            </a:r>
            <a:r>
              <a:rPr lang="en-US" sz="2000" b="0" i="0" u="none" strike="noStrike" dirty="0">
                <a:effectLst/>
                <a:latin typeface="Times New Roman" panose="02020603050405020304" pitchFamily="18" charset="0"/>
                <a:cs typeface="Times New Roman" panose="02020603050405020304" pitchFamily="18" charset="0"/>
              </a:rPr>
              <a:t>mutation</a:t>
            </a:r>
            <a:r>
              <a:rPr lang="en-US" sz="2000" b="0" i="0" dirty="0">
                <a:effectLst/>
                <a:latin typeface="Times New Roman" panose="02020603050405020304" pitchFamily="18" charset="0"/>
                <a:cs typeface="Times New Roman" panose="02020603050405020304" pitchFamily="18" charset="0"/>
              </a:rPr>
              <a:t>.</a:t>
            </a:r>
          </a:p>
          <a:p>
            <a:pPr algn="just">
              <a:lnSpc>
                <a:spcPct val="150000"/>
              </a:lnSpc>
            </a:pPr>
            <a:r>
              <a:rPr lang="en-US" sz="2000" b="1" dirty="0">
                <a:latin typeface="Times New Roman" panose="02020603050405020304" pitchFamily="18" charset="0"/>
                <a:cs typeface="Times New Roman" panose="02020603050405020304" pitchFamily="18" charset="0"/>
              </a:rPr>
              <a:t>Creating Random Timetables </a:t>
            </a:r>
            <a:r>
              <a:rPr lang="en-US" sz="2000" dirty="0">
                <a:latin typeface="Times New Roman" panose="02020603050405020304" pitchFamily="18" charset="0"/>
                <a:cs typeface="Times New Roman" panose="02020603050405020304" pitchFamily="18" charset="0"/>
              </a:rPr>
              <a:t>– The system first creates many random timetable options.</a:t>
            </a:r>
          </a:p>
          <a:p>
            <a:pPr algn="just">
              <a:lnSpc>
                <a:spcPct val="150000"/>
              </a:lnSpc>
            </a:pPr>
            <a:r>
              <a:rPr lang="en-US" sz="2000" b="1" dirty="0">
                <a:latin typeface="Times New Roman" panose="02020603050405020304" pitchFamily="18" charset="0"/>
                <a:cs typeface="Times New Roman" panose="02020603050405020304" pitchFamily="18" charset="0"/>
              </a:rPr>
              <a:t>Checking for Mistakes </a:t>
            </a:r>
            <a:r>
              <a:rPr lang="en-US" sz="2000" dirty="0">
                <a:latin typeface="Times New Roman" panose="02020603050405020304" pitchFamily="18" charset="0"/>
                <a:cs typeface="Times New Roman" panose="02020603050405020304" pitchFamily="18" charset="0"/>
              </a:rPr>
              <a:t>– It examines each timetable to see if there are any clashes, like a teacher being assigned to two classes at the same time.</a:t>
            </a:r>
          </a:p>
          <a:p>
            <a:pPr algn="just">
              <a:lnSpc>
                <a:spcPct val="150000"/>
              </a:lnSpc>
            </a:pPr>
            <a:r>
              <a:rPr lang="en-US" sz="2000" b="1" dirty="0">
                <a:latin typeface="Times New Roman" panose="02020603050405020304" pitchFamily="18" charset="0"/>
                <a:cs typeface="Times New Roman" panose="02020603050405020304" pitchFamily="18" charset="0"/>
              </a:rPr>
              <a:t>Picking the Best Ones </a:t>
            </a:r>
            <a:r>
              <a:rPr lang="en-US" sz="2000" dirty="0">
                <a:latin typeface="Times New Roman" panose="02020603050405020304" pitchFamily="18" charset="0"/>
                <a:cs typeface="Times New Roman" panose="02020603050405020304" pitchFamily="18" charset="0"/>
              </a:rPr>
              <a:t>– The system selects the best schedules that have fewer mistakes. </a:t>
            </a:r>
          </a:p>
          <a:p>
            <a:pPr marL="0" indent="0" algn="just">
              <a:lnSpc>
                <a:spcPct val="150000"/>
              </a:lnSpc>
              <a:buNone/>
            </a:pPr>
            <a:r>
              <a:rPr lang="en-US" sz="2000" b="1" dirty="0">
                <a:latin typeface="Times New Roman" panose="02020603050405020304" pitchFamily="18" charset="0"/>
                <a:cs typeface="Times New Roman" panose="02020603050405020304" pitchFamily="18" charset="0"/>
              </a:rPr>
              <a:t>	“Selects the best, rejects the rest”</a:t>
            </a:r>
          </a:p>
          <a:p>
            <a:pPr algn="just">
              <a:lnSpc>
                <a:spcPct val="150000"/>
              </a:lnSpc>
            </a:pPr>
            <a:r>
              <a:rPr lang="en-US" sz="2000" b="1" dirty="0">
                <a:latin typeface="Times New Roman" panose="02020603050405020304" pitchFamily="18" charset="0"/>
                <a:cs typeface="Times New Roman" panose="02020603050405020304" pitchFamily="18" charset="0"/>
              </a:rPr>
              <a:t>Mixing and Matching </a:t>
            </a:r>
            <a:r>
              <a:rPr lang="en-US" sz="2000" dirty="0">
                <a:latin typeface="Times New Roman" panose="02020603050405020304" pitchFamily="18" charset="0"/>
                <a:cs typeface="Times New Roman" panose="02020603050405020304" pitchFamily="18" charset="0"/>
              </a:rPr>
              <a:t>– It takes the best schedules and combines them to create even better ones.</a:t>
            </a:r>
          </a:p>
          <a:p>
            <a:pPr algn="just">
              <a:lnSpc>
                <a:spcPct val="150000"/>
              </a:lnSpc>
            </a:pPr>
            <a:r>
              <a:rPr lang="en-US" sz="2000" b="1" dirty="0">
                <a:latin typeface="Times New Roman" panose="02020603050405020304" pitchFamily="18" charset="0"/>
                <a:cs typeface="Times New Roman" panose="02020603050405020304" pitchFamily="18" charset="0"/>
              </a:rPr>
              <a:t>Making Small Changes </a:t>
            </a:r>
            <a:r>
              <a:rPr lang="en-US" sz="2000" dirty="0">
                <a:latin typeface="Times New Roman" panose="02020603050405020304" pitchFamily="18" charset="0"/>
                <a:cs typeface="Times New Roman" panose="02020603050405020304" pitchFamily="18" charset="0"/>
              </a:rPr>
              <a:t>– Tiny changes are made to improve the timetable further.</a:t>
            </a:r>
          </a:p>
          <a:p>
            <a:pPr algn="just">
              <a:lnSpc>
                <a:spcPct val="150000"/>
              </a:lnSpc>
            </a:pPr>
            <a:r>
              <a:rPr lang="en-US" sz="2000" b="1" dirty="0">
                <a:latin typeface="Times New Roman" panose="02020603050405020304" pitchFamily="18" charset="0"/>
                <a:cs typeface="Times New Roman" panose="02020603050405020304" pitchFamily="18" charset="0"/>
              </a:rPr>
              <a:t>Repeating the Process </a:t>
            </a:r>
            <a:r>
              <a:rPr lang="en-US" sz="2000" dirty="0">
                <a:latin typeface="Times New Roman" panose="02020603050405020304" pitchFamily="18" charset="0"/>
                <a:cs typeface="Times New Roman" panose="02020603050405020304" pitchFamily="18" charset="0"/>
              </a:rPr>
              <a:t>– This cycle continues until the system finds the most perfect timetable possible.</a:t>
            </a:r>
            <a:endParaRPr lang="en-IN" sz="2000" dirty="0">
              <a:latin typeface="Times New Roman" panose="02020603050405020304" pitchFamily="18" charset="0"/>
              <a:cs typeface="Times New Roman" panose="02020603050405020304" pitchFamily="18" charset="0"/>
            </a:endParaRPr>
          </a:p>
          <a:p>
            <a:pPr algn="just"/>
            <a:endParaRPr lang="en-IN" sz="2000" dirty="0"/>
          </a:p>
        </p:txBody>
      </p:sp>
      <p:sp>
        <p:nvSpPr>
          <p:cNvPr id="7" name="Slide Number Placeholder 3">
            <a:extLst>
              <a:ext uri="{FF2B5EF4-FFF2-40B4-BE49-F238E27FC236}">
                <a16:creationId xmlns:a16="http://schemas.microsoft.com/office/drawing/2014/main" id="{CB44472F-9E28-4793-9A90-6740B445C030}"/>
              </a:ext>
            </a:extLst>
          </p:cNvPr>
          <p:cNvSpPr>
            <a:spLocks noGrp="1"/>
          </p:cNvSpPr>
          <p:nvPr>
            <p:ph type="sldNum" sz="quarter" idx="12"/>
          </p:nvPr>
        </p:nvSpPr>
        <p:spPr>
          <a:xfrm>
            <a:off x="10874477" y="6356350"/>
            <a:ext cx="479323" cy="365125"/>
          </a:xfrm>
        </p:spPr>
        <p:txBody>
          <a:bodyPr/>
          <a:lstStyle/>
          <a:p>
            <a:fld id="{D19EB42E-18EF-4ADA-8D91-F15AD1AFC8DD}" type="slidenum">
              <a:rPr lang="en-IN" smtClean="0"/>
              <a:t>17</a:t>
            </a:fld>
            <a:endParaRPr lang="en-IN" dirty="0"/>
          </a:p>
        </p:txBody>
      </p:sp>
    </p:spTree>
    <p:extLst>
      <p:ext uri="{BB962C8B-B14F-4D97-AF65-F5344CB8AC3E}">
        <p14:creationId xmlns:p14="http://schemas.microsoft.com/office/powerpoint/2010/main" val="1357536502"/>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895</TotalTime>
  <Words>865</Words>
  <Application>Microsoft Office PowerPoint</Application>
  <PresentationFormat>Widescreen</PresentationFormat>
  <Paragraphs>75</Paragraphs>
  <Slides>17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Calibri Light</vt:lpstr>
      <vt:lpstr>Times New Roman</vt:lpstr>
      <vt:lpstr>Wingdings</vt:lpstr>
      <vt:lpstr>Office Theme</vt:lpstr>
      <vt:lpstr>PowerPoint Presentation</vt:lpstr>
      <vt:lpstr>Introduction</vt:lpstr>
      <vt:lpstr>Objectives</vt:lpstr>
      <vt:lpstr>Problem Statement</vt:lpstr>
      <vt:lpstr>Proposed Solution</vt:lpstr>
      <vt:lpstr>Methodology</vt:lpstr>
      <vt:lpstr>System Architecture</vt:lpstr>
      <vt:lpstr>Flow Chart</vt:lpstr>
      <vt:lpstr>PowerPoint Presentation</vt:lpstr>
      <vt:lpstr>Screenshots</vt:lpstr>
      <vt:lpstr>PowerPoint Presentation</vt:lpstr>
      <vt:lpstr>PowerPoint Presentation</vt:lpstr>
      <vt:lpstr>PowerPoint Presentation</vt:lpstr>
      <vt:lpstr>PowerPoint Presentation</vt:lpstr>
      <vt:lpstr>Conclusion</vt:lpstr>
      <vt:lpstr>PowerPoint Presentation</vt:lpstr>
      <vt:lpstr>Genetic Algorithm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PRAPTHI J P;Gaurav Alva</dc:creator>
  <cp:lastModifiedBy>Gaurav Alva</cp:lastModifiedBy>
  <cp:revision>24</cp:revision>
  <dcterms:created xsi:type="dcterms:W3CDTF">2024-10-02T16:51:19Z</dcterms:created>
  <dcterms:modified xsi:type="dcterms:W3CDTF">2026-01-08T12:40:30Z</dcterms:modified>
</cp:coreProperties>
</file>